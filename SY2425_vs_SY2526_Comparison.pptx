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6A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94360"/>
            <a:ext cx="8321040" cy="443484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1A0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comparison of SY2425 and SY2526 SOL Data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6583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Gains</a:t>
            </a:r>
            <a:endParaRPr lang="en-US" sz="16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914400"/>
          <a:ext cx="78638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  <a:gridCol w="155448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5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5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Correct - ALL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5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Correct - SWD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5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Correct - MLL (SY26 only; 5 students)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Strands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64.1% to 62.3%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(-1.8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48.3% to 48.7%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CAF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(+0.4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7A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(100/225)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6A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11.RI.1.B </a:t>
                      </a: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Analyze the hypotheses, data, analysis, and/or conclusions in texts.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42.0% to 58.4%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CAF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(+16.4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41.9% to 52.3%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CAF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(+10.4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7A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(3/5)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6A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10.RI.2.C </a:t>
                      </a: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Analyze the author's purpose and impact of literary techniques in a text.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59.6% to 72.4%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CAF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(+12.8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51.4% to 70.6%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CAF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(+19.2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7A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(no SY26 responses)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6A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9.RL.1.A </a:t>
                      </a: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Analyze the development of a theme in a literary text.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52.0% to 63.7%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CAF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(+11.7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40.3% to 52.5%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CAF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(+12.2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7A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(5/10)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94360" y="2651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Declines</a:t>
            </a:r>
            <a:endParaRPr lang="en-US" sz="16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907792"/>
          <a:ext cx="78638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  <a:gridCol w="155448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5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5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Correct - ALL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5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Correct - SWD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5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Correct - MLL (SY26 only; 5 students)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Strands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64.1% to 62.3%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(-1.8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48.3% to 48.7%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CAF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(+0.4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7A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(100/225)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6A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10.RI.1.C </a:t>
                      </a: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Evaluate details in a text, determining which could confirm or disprove an argument or position.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62.7% to 51.9%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(-10.8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53.0% to 40.7%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(-12.3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7A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(8/25)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6A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11.RI.2.C </a:t>
                      </a: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Analyze the author's purpose and impact of literary techniques in a text.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72.3% to 36.2%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(-36.1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52.8% to 20.0%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(-32.8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7A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(5/5; one Low-difficulty item each)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6A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11.RL.2.B </a:t>
                      </a: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Evaluate how word choice, syntax, tone or voice conveys an author's intent and viewpoint.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68.3% to 57.7%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(-10.6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50.9% to 41.4%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(-9.5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7A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(2/10)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40080" y="462686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Menchville HS only. Values are % of item responses answered correctly; SY2425 limited to the 2024-standards test forms so SOL codes match SY2526. The district-provided SDBQ for SY2526 reflects five MLL students (49 in SY2425), so MLL is shown as the SY2526 percent with correct/total responses rather than as a year-over-year change.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6A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474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Patterns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87552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Pattern: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Students:</a:t>
            </a:r>
            <a:endParaRPr lang="en-US" sz="1300" dirty="0"/>
          </a:p>
          <a:p>
            <a:pPr lvl="1" marL="6858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% Correct (SY25 to SY26): All students -1.8, SWD +0.4 (MLL not compared; see below)</a:t>
            </a:r>
            <a:endParaRPr lang="en-US" sz="1300" dirty="0"/>
          </a:p>
          <a:p>
            <a:pPr lvl="1" marL="6858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Strand specific: 11 gains, 27 declines, 1 flat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SWD: </a:t>
            </a: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gains, 14 declines ← only population with net improvement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ELL/MLL: </a:t>
            </a: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students tested in SY26 (49 in SY25); too few to compare year over year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82296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40487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Insights: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All Students show net decline (11 gains vs 27 declines), </a:t>
            </a:r>
            <a:r>
              <a:rPr lang="en-US" sz="10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SWD shows net improvement</a:t>
            </a: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 gains vs 14 declines). This suggests: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SWD</a:t>
            </a: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supports from last year may be working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r>
              <a:rPr lang="en-US" sz="10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school-wide</a:t>
            </a: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decline masks pockets of success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district-provided SDBQ for SY2526 reflects only five </a:t>
            </a:r>
            <a:r>
              <a:rPr lang="en-US" sz="10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MLL</a:t>
            </a: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students who took the assessment at MHS. With a group this small, MLL results (which fall below the school on each priority standard) are best read as individual student data rather than as a trend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4069080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414223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Interesting Anomalies: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11.RVN.1.D: </a:t>
            </a: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Students flat (0.0), but SWD +34.6 (strong SWD gain masked overall; SWD n=18)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9.RI.2.B: </a:t>
            </a: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Students -9.9, but SWD +22.2 (SWD n=10)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10.RI.1.B: </a:t>
            </a: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Students +8.2, but SWD +23.2 (SWD n=27)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5010912"/>
            <a:ext cx="8229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5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Menchville HS only; 39 SOLs common to both years; any nonzero change counts as a gain or decline. 7 of the 27 All-Students declines are on SOLs with fewer than 5 SY2526 responses. MLL counts omitted (five students).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2026-09-20T22:56:32Z</dcterms:created>
  <dcterms:modified xsi:type="dcterms:W3CDTF">2026-09-20T22:56:32Z</dcterms:modified>
</cp:coreProperties>
</file>