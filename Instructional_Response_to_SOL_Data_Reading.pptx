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16"/>
    <p:sldId id="258" r:id="rId17"/>
  </p:sldIdLst>
  <p:sldSz cy="5143500" cx="9144000"/>
  <p:notesSz cx="6858000" cy="9144000"/>
  <p:embeddedFontLst>
    <p:embeddedFont>
      <p:font typeface="Overpass"/>
      <p:regular r:id="rId8"/>
      <p:bold r:id="rId9"/>
      <p:italic r:id="rId10"/>
      <p:boldItalic r:id="rId11"/>
    </p:embeddedFont>
    <p:embeddedFont>
      <p:font typeface="Rubik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7E61B7-C1A4-47CA-91F6-83AEB93D0619}">
  <a:tblStyle styleId="{A47E61B7-C1A4-47CA-91F6-83AEB93D0619}" styleName="Table_0"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DF6E7"/>
          </a:solidFill>
        </a:fill>
      </a:tcStyle>
    </a:wholeTbl>
    <a:band1H>
      <a:tcTxStyle/>
      <a:tcStyle>
        <a:fill>
          <a:solidFill>
            <a:srgbClr val="D8EDCB"/>
          </a:solidFill>
        </a:fill>
      </a:tcStyle>
    </a:band1H>
    <a:band2H>
      <a:tcTxStyle/>
    </a:band2H>
    <a:band1V>
      <a:tcTxStyle/>
      <a:tcStyle>
        <a:fill>
          <a:solidFill>
            <a:srgbClr val="D8EDCB"/>
          </a:solidFill>
        </a:fill>
      </a:tcStyle>
    </a:band1V>
    <a:band2V>
      <a:tcTxStyle/>
    </a:band2V>
    <a:la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fill>
          <a:solidFill>
            <a:srgbClr val="86CE24"/>
          </a:solidFill>
        </a:fill>
      </a:tcStyle>
    </a:lastCol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fill>
          <a:solidFill>
            <a:srgbClr val="86CE24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86CE24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86CE24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1" Type="http://schemas.openxmlformats.org/officeDocument/2006/relationships/font" Target="fonts/Overpass-boldItalic.fntdata"/><Relationship Id="rId10" Type="http://schemas.openxmlformats.org/officeDocument/2006/relationships/font" Target="fonts/Overpass-italic.fntdata"/><Relationship Id="rId13" Type="http://schemas.openxmlformats.org/officeDocument/2006/relationships/font" Target="fonts/Rubik-bold.fntdata"/><Relationship Id="rId12" Type="http://schemas.openxmlformats.org/officeDocument/2006/relationships/font" Target="fonts/Rubik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font" Target="fonts/Overpass-bold.fntdata"/><Relationship Id="rId15" Type="http://schemas.openxmlformats.org/officeDocument/2006/relationships/font" Target="fonts/Rubik-boldItalic.fntdata"/><Relationship Id="rId14" Type="http://schemas.openxmlformats.org/officeDocument/2006/relationships/font" Target="fonts/Rubik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Overpass-regular.fntdata"/>  <Relationship Id="rId16" Type="http://schemas.openxmlformats.org/officeDocument/2006/relationships/slide" Target="slides/slide2.xml"/>
  <Relationship Id="rId17" Type="http://schemas.openxmlformats.org/officeDocument/2006/relationships/slide" Target="slides/slide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b72aac7e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fb72aac7e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Based on your SOL data, what changes have you made to Tier 1 instructional delivery this school year, and what evidence do you have that those changes are beginning to impact student learning?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What did your data identify as the most significant instructional needs or gaps?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What specifically are teachers doing differently in Tier 1 instruction this year as a result?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How are you monitoring whether those instructional changes are being implemented consistently?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What early evidence: student work, common assessments, walkthrough data, formative data, etc.</a:t>
            </a:r>
            <a:r>
              <a:rPr b="1" i="1" lang="en">
                <a:solidFill>
                  <a:schemeClr val="dk1"/>
                </a:solidFill>
              </a:rPr>
              <a:t>(indicates whether the changes are having the intended impact?)</a:t>
            </a:r>
            <a:endParaRPr b="1" i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chemeClr val="dk1"/>
                </a:solidFill>
              </a:rPr>
              <a:t>Now that you are seeing progress, where do you need to adjust your instructional response?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Principals should think about- </a:t>
            </a:r>
            <a:r>
              <a:rPr b="1" lang="en">
                <a:solidFill>
                  <a:schemeClr val="dk1"/>
                </a:solidFill>
              </a:rPr>
              <a:t>“What are you doing differently because of what the data told you?”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-21225" y="4810975"/>
            <a:ext cx="9211500" cy="332400"/>
          </a:xfrm>
          <a:prstGeom prst="rect">
            <a:avLst/>
          </a:prstGeom>
          <a:solidFill>
            <a:srgbClr val="214F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56" name="Google Shape;56;p13"/>
          <p:cNvSpPr txBox="1"/>
          <p:nvPr>
            <p:ph type="ctrTitle"/>
          </p:nvPr>
        </p:nvSpPr>
        <p:spPr>
          <a:xfrm>
            <a:off x="880625" y="-239275"/>
            <a:ext cx="76743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sz="3000">
                <a:solidFill>
                  <a:srgbClr val="214F93"/>
                </a:solidFill>
              </a:rPr>
              <a:t>Instructional Response to SOL Data</a:t>
            </a:r>
            <a:endParaRPr sz="3000">
              <a:solidFill>
                <a:srgbClr val="214F93"/>
              </a:solidFill>
            </a:endParaRP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18075" y="1139450"/>
            <a:ext cx="8581500" cy="4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214F93"/>
              </a:solidFill>
            </a:endParaRPr>
          </a:p>
          <a:p>
            <a:pPr indent="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214F93"/>
                </a:solidFill>
              </a:rPr>
              <a:t> </a:t>
            </a:r>
            <a:endParaRPr sz="1900">
              <a:solidFill>
                <a:srgbClr val="214F93"/>
              </a:solidFill>
            </a:endParaRPr>
          </a:p>
        </p:txBody>
      </p:sp>
      <p:graphicFrame>
        <p:nvGraphicFramePr>
          <p:cNvPr id="58" name="Google Shape;58;p13"/>
          <p:cNvGraphicFramePr/>
          <p:nvPr/>
        </p:nvGraphicFramePr>
        <p:xfrm>
          <a:off x="293775" y="74633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{A47E61B7-C1A4-47CA-91F6-83AEB93D0619}</a:tableStyleId>
              </a:tblPr>
              <a:tblGrid>
                <a:gridCol w="2145375"/>
                <a:gridCol w="2145375"/>
                <a:gridCol w="2145375"/>
                <a:gridCol w="2145375"/>
              </a:tblGrid>
              <a:tr h="626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Reading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Math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Science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b="0" lang="en" sz="16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History</a:t>
                      </a:r>
                      <a:endParaRPr b="0" sz="1600">
                        <a:solidFill>
                          <a:schemeClr val="accent3"/>
                        </a:solidFill>
                        <a:latin typeface="Rubik"/>
                        <a:ea typeface="Rubik"/>
                        <a:cs typeface="Rubik"/>
                        <a:sym typeface="Rubik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</a:tr>
              <a:tr h="559750"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4F93"/>
                          </a:solidFill>
                        </a:rPr>
                        <a:t>Significant Gaps</a:t>
                      </a:r>
                      <a:endParaRPr sz="9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% of items correct: all students 63%, SWD 49%, ELL 44%. Three skills to improve (all / SWD / ELL):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Evaluate details in a text, determining which could confirm or disprove an argument or position</a:t>
                      </a:r>
                      <a:r>
                        <a:rPr lang="en" sz="750"/>
                        <a:t xml:space="preserve"> (10.RI.1.C): 53% / 40% / 32%.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Analyze how characters are revealed through particular lines of dialogue or events</a:t>
                      </a:r>
                      <a:r>
                        <a:rPr lang="en" sz="750"/>
                        <a:t xml:space="preserve"> (11.RL.1.C): 61% / 53% / 30%; most-tested standard.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Use context and sentence structure clues to clarify the meaning of words</a:t>
                      </a:r>
                      <a:r>
                        <a:rPr lang="en" sz="750"/>
                        <a:t xml:space="preserve"> (11.RVN.1.B): 52% / 51% / 40%.</a:t>
                      </a:r>
                      <a:endParaRPr sz="750"/>
                    </a:p>
                    <a:p>
                      <a:pPr indent="0" lvl="0" marL="0" rtl="0" algn="l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4F93"/>
                          </a:solidFill>
                        </a:rPr>
                        <a:t>Changes to Tier 1</a:t>
                      </a:r>
                      <a:endParaRPr sz="90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Claim check:</a:t>
                      </a:r>
                      <a:r>
                        <a:rPr lang="en" sz="750"/>
                        <a:t xml:space="preserve"> weekly paired-passage task where students decide which details confirm or disprove a claim; teacher think-aloud + PEE/CER.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Character annotation:</a:t>
                      </a:r>
                      <a:r>
                        <a:rPr lang="en" sz="750"/>
                        <a:t xml:space="preserve"> mark a line of dialogue or an event, then write what it reveals; organizer for SWD/ELL.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 b="1"/>
                        <a:t>Context-clue routine:</a:t>
                      </a:r>
                      <a:r>
                        <a:rPr lang="en" sz="750"/>
                        <a:t xml:space="preserve"> daily 5-minute word-meaning practice; pre-teach key words for ELL.</a:t>
                      </a:r>
                      <a:endParaRPr sz="750"/>
                    </a:p>
                    <a:p>
                      <a:pPr indent="0" lvl="0" marL="0" rtl="0" algn="l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4F93"/>
                          </a:solidFill>
                        </a:rPr>
                        <a:t>Monitoring</a:t>
                      </a:r>
                      <a:endParaRPr sz="90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/>
                        <a:t>One 5-item CFU per skill every 3 weeks; MP1 benchmark on these three SOLs for all/SWD/ELL.</a:t>
                      </a:r>
                      <a:endParaRPr sz="750"/>
                    </a:p>
                    <a:p>
                      <a:pPr indent="-101600" lvl="0" marL="10160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SzPct val="100000"/>
                        <a:buChar char="•"/>
                      </a:pPr>
                      <a:r>
                        <a:rPr lang="en" sz="750"/>
                        <a:t>Walkthroughs check the three routines; PLC reviews student samples monthly.</a:t>
                      </a:r>
                      <a:endParaRPr sz="750"/>
                    </a:p>
                  </a:txBody>
                  <a:tcPr marT="45725" marB="45725" marR="54864" marL="54864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rowSpan="6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  <a:tr h="559750">
                <a:tc vMerge="1"/>
                <a:tc vMerge="1"/>
                <a:tc vMerge="1"/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-21225" y="4810975"/>
            <a:ext cx="9211500" cy="332400"/>
          </a:xfrm>
          <a:prstGeom prst="rect">
            <a:avLst/>
          </a:prstGeom>
          <a:solidFill>
            <a:srgbClr val="214F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56" name="Google Shape;56;p13"/>
          <p:cNvSpPr txBox="1"/>
          <p:nvPr>
            <p:ph type="ctrTitle"/>
          </p:nvPr>
        </p:nvSpPr>
        <p:spPr>
          <a:xfrm>
            <a:off x="880625" y="-239275"/>
            <a:ext cx="76743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sz="3000">
                <a:solidFill>
                  <a:srgbClr val="214F93"/>
                </a:solidFill>
              </a:rPr>
              <a:t>Reading: Evidence Behind the Response</a:t>
            </a:r>
            <a:endParaRPr sz="3000">
              <a:solidFill>
                <a:srgbClr val="214F93"/>
              </a:solidFill>
            </a:endParaRP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18075" y="540000"/>
            <a:ext cx="85815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14F93"/>
                </a:solidFill>
              </a:rPr>
              <a:t>Menchville HS · EOC Reading (2024) · Spring 2026 · English department, all sections combined</a:t>
            </a: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14F93"/>
                </a:solidFill>
              </a:rPr>
              <a:t>Three skills below 60% in every group, chosen by number of responses missed (all attempts). Overall % of items correct: all students 63%, SWD 49%, ELL 44%.</a:t>
            </a:r>
          </a:p>
        </p:txBody>
      </p:sp>
      <p:graphicFrame>
        <p:nvGraphicFramePr>
          <p:cNvPr id="58" name="Google Shape;58;p13"/>
          <p:cNvGraphicFramePr/>
          <p:nvPr/>
        </p:nvGraphicFramePr>
        <p:xfrm>
          <a:off x="293775" y="98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{A47E61B7-C1A4-47CA-91F6-83AEB93D0619}</a:tableStyleId>
              </a:tblPr>
              <a:tblGrid>
                <a:gridCol w="1400000"/>
                <a:gridCol w="3590750"/>
                <a:gridCol w="3590750"/>
              </a:tblGrid>
              <a:tr h="42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3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Skill to improve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3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Spring 2026: % of items correct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300">
                          <a:solidFill>
                            <a:schemeClr val="accent3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Tier 1 change and evidence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14F93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Evaluate details in a text, determining which could confirm or disprove an argument or position (10.RI.1.C)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 xml:space="preserve">All students </a:t>
                      </a:r>
                      <a:r>
                        <a:rPr lang="en" sz="800" b="1"/>
                        <a:t>53%</a:t>
                      </a:r>
                      <a:r>
                        <a:rPr lang="en" sz="800"/>
                        <a:t xml:space="preserve"> (905 responses) · SWD </a:t>
                      </a:r>
                      <a:r>
                        <a:rPr lang="en" sz="800" b="1"/>
                        <a:t>40%</a:t>
                      </a:r>
                      <a:r>
                        <a:rPr lang="en" sz="800"/>
                        <a:t xml:space="preserve"> (118) · ELL </a:t>
                      </a:r>
                      <a:r>
                        <a:rPr lang="en" sz="800" b="1"/>
                        <a:t>32%</a:t>
                      </a:r>
                      <a:r>
                        <a:rPr lang="en" sz="800"/>
                        <a:t xml:space="preserve"> (25). Weakest high-volume skill in every group.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Weekly paired-passage claim check: students decide which details confirm or disprove a claim and explain why (PEE/CER), after a teacher think-aloud.</a:t>
                      </a:r>
                      <a:endParaRPr sz="800"/>
                    </a:p>
                    <a:p>
                      <a:pPr indent="0" lvl="0" marL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 xml:space="preserve">Evidence: </a:t>
                      </a:r>
                      <a:r>
                        <a:rPr lang="en" sz="800"/>
                        <a:t>5-item CFU every 3 weeks; MP1 benchmark.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Analyze how characters are revealed through particular lines of dialogue or events (11.RL.1.C)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 xml:space="preserve">All students </a:t>
                      </a:r>
                      <a:r>
                        <a:rPr lang="en" sz="800" b="1"/>
                        <a:t>61%</a:t>
                      </a:r>
                      <a:r>
                        <a:rPr lang="en" sz="800"/>
                        <a:t xml:space="preserve"> (1,338) · SWD </a:t>
                      </a:r>
                      <a:r>
                        <a:rPr lang="en" sz="800" b="1"/>
                        <a:t>53%</a:t>
                      </a:r>
                      <a:r>
                        <a:rPr lang="en" sz="800"/>
                        <a:t xml:space="preserve"> (196) · ELL </a:t>
                      </a:r>
                      <a:r>
                        <a:rPr lang="en" sz="800" b="1"/>
                        <a:t>30%</a:t>
                      </a:r>
                      <a:r>
                        <a:rPr lang="en" sz="800"/>
                        <a:t xml:space="preserve"> (20). Most-tested standard on the exam; most responses missed overall.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Character annotation routine: mark a line of dialogue or an event, then write what it reveals about the character; graphic organizer for SWD and ELL.</a:t>
                      </a:r>
                      <a:endParaRPr sz="800"/>
                    </a:p>
                    <a:p>
                      <a:pPr indent="0" lvl="0" marL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 xml:space="preserve">Evidence: </a:t>
                      </a:r>
                      <a:r>
                        <a:rPr lang="en" sz="800"/>
                        <a:t>annotated passages reviewed in PLC monthly; CFU every 3 weeks.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Use context and sentence structure clues to clarify the meaning of words (11.RVN.1.B)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 xml:space="preserve">All students </a:t>
                      </a:r>
                      <a:r>
                        <a:rPr lang="en" sz="800" b="1"/>
                        <a:t>52%</a:t>
                      </a:r>
                      <a:r>
                        <a:rPr lang="en" sz="800"/>
                        <a:t xml:space="preserve"> (402) · SWD </a:t>
                      </a:r>
                      <a:r>
                        <a:rPr lang="en" sz="800" b="1"/>
                        <a:t>51%</a:t>
                      </a:r>
                      <a:r>
                        <a:rPr lang="en" sz="800"/>
                        <a:t xml:space="preserve"> (63) · ELL </a:t>
                      </a:r>
                      <a:r>
                        <a:rPr lang="en" sz="800" b="1"/>
                        <a:t>40%</a:t>
                      </a:r>
                      <a:r>
                        <a:rPr lang="en" sz="800"/>
                        <a:t xml:space="preserve"> (5). Under 60% in every group.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Daily 5-minute context-clue routine on words from the current text; pre-teach key words for ELL (ExC-ELL, Frayer).</a:t>
                      </a:r>
                      <a:endParaRPr sz="800"/>
                    </a:p>
                    <a:p>
                      <a:pPr indent="0" lvl="0" marL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 xml:space="preserve">Evidence: </a:t>
                      </a:r>
                      <a:r>
                        <a:rPr lang="en" sz="800"/>
                        <a:t>vocabulary CFU every 3 weeks; MP1 benchmark.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/>
                        <a:t>Students to track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MHS pass rate 78%, SWD 54%, ELL 20%; 76 non-passers, 22 within 25 points of passing.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Named tracking list; bi-weekly progress checks.</a:t>
                      </a:r>
                      <a:endParaRPr sz="800"/>
                    </a:p>
                  </a:txBody>
                  <a:tcPr marT="27432" marB="27432" marR="91450" marL="914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-21225" y="4810975"/>
            <a:ext cx="9211500" cy="332400"/>
          </a:xfrm>
          <a:prstGeom prst="rect">
            <a:avLst/>
          </a:prstGeom>
          <a:solidFill>
            <a:srgbClr val="214F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56" name="Google Shape;56;p13"/>
          <p:cNvSpPr txBox="1"/>
          <p:nvPr>
            <p:ph type="ctrTitle"/>
          </p:nvPr>
        </p:nvSpPr>
        <p:spPr>
          <a:xfrm>
            <a:off x="880625" y="-239275"/>
            <a:ext cx="76743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sz="3000">
                <a:solidFill>
                  <a:srgbClr val="214F93"/>
                </a:solidFill>
              </a:rPr>
              <a:t>Reading at a Glance</a:t>
            </a:r>
            <a:endParaRPr sz="3000">
              <a:solidFill>
                <a:srgbClr val="214F93"/>
              </a:solidFill>
            </a:endParaRPr>
          </a:p>
        </p:txBody>
      </p:sp>
      <p:sp>
        <p:nvSpPr>
          <p:cNvPr id="901" name="Text 901"/>
          <p:cNvSpPr txBox="1"/>
          <p:nvPr/>
        </p:nvSpPr>
        <p:spPr>
          <a:xfrm>
            <a:off x="320040" y="530352"/>
            <a:ext cx="8503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214F93"/>
                </a:solidFill>
              </a:rPr>
              <a:t>Three Critical Skills to Improve</a:t>
            </a:r>
          </a:p>
        </p:txBody>
      </p:sp>
      <p:sp>
        <p:nvSpPr>
          <p:cNvPr id="902" name="Text 902"/>
          <p:cNvSpPr txBox="1"/>
          <p:nvPr/>
        </p:nvSpPr>
        <p:spPr>
          <a:xfrm>
            <a:off x="320040" y="868680"/>
            <a:ext cx="8503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>
                <a:solidFill>
                  <a:srgbClr val="7A8398"/>
                </a:solidFill>
              </a:rPr>
              <a:t>All students underperforming on these standards. Bars show % correct; goal line at 60%.</a:t>
            </a:r>
          </a:p>
        </p:txBody>
      </p:sp>
      <p:sp>
        <p:nvSpPr>
          <p:cNvPr id="903" name="Shape 903"/>
          <p:cNvSpPr/>
          <p:nvPr/>
        </p:nvSpPr>
        <p:spPr>
          <a:xfrm>
            <a:off x="338328" y="1161288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04" name="Shape 904"/>
          <p:cNvSpPr/>
          <p:nvPr/>
        </p:nvSpPr>
        <p:spPr>
          <a:xfrm>
            <a:off x="320040" y="114300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F8FAFB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sz="800"/>
          </a:p>
        </p:txBody>
      </p:sp>
      <p:sp>
        <p:nvSpPr>
          <p:cNvPr id="905" name="Shape 905"/>
          <p:cNvSpPr/>
          <p:nvPr/>
        </p:nvSpPr>
        <p:spPr>
          <a:xfrm>
            <a:off x="2724912" y="1252728"/>
            <a:ext cx="256032" cy="256032"/>
          </a:xfrm>
          <a:prstGeom prst="ellipse">
            <a:avLst/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06" name="Text 906"/>
          <p:cNvSpPr txBox="1"/>
          <p:nvPr/>
        </p:nvSpPr>
        <p:spPr>
          <a:xfrm>
            <a:off x="2724912" y="12527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7" name="Text 907"/>
          <p:cNvSpPr txBox="1"/>
          <p:nvPr/>
        </p:nvSpPr>
        <p:spPr>
          <a:xfrm>
            <a:off x="466344" y="128930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214F93"/>
                </a:solidFill>
              </a:rPr>
              <a:t>Evaluate details in a text, determining which could confirm or disprove an argument or position</a:t>
            </a:r>
          </a:p>
        </p:txBody>
      </p:sp>
      <p:sp>
        <p:nvSpPr>
          <p:cNvPr id="908" name="Text 908"/>
          <p:cNvSpPr txBox="1"/>
          <p:nvPr/>
        </p:nvSpPr>
        <p:spPr>
          <a:xfrm>
            <a:off x="466344" y="1709928"/>
            <a:ext cx="240487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A8398"/>
                </a:solidFill>
              </a:rPr>
              <a:t>Standard 10.RI.1.C</a:t>
            </a:r>
          </a:p>
        </p:txBody>
      </p:sp>
      <p:sp>
        <p:nvSpPr>
          <p:cNvPr id="909" name="Text 909"/>
          <p:cNvSpPr txBox="1"/>
          <p:nvPr/>
        </p:nvSpPr>
        <p:spPr>
          <a:xfrm>
            <a:off x="466344" y="2057400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All students</a:t>
            </a:r>
          </a:p>
        </p:txBody>
      </p:sp>
      <p:sp>
        <p:nvSpPr>
          <p:cNvPr id="910" name="Text 910"/>
          <p:cNvSpPr txBox="1"/>
          <p:nvPr/>
        </p:nvSpPr>
        <p:spPr>
          <a:xfrm>
            <a:off x="1789024" y="2057400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905 responses</a:t>
            </a:r>
          </a:p>
        </p:txBody>
      </p:sp>
      <p:sp>
        <p:nvSpPr>
          <p:cNvPr id="911" name="Shape 911"/>
          <p:cNvSpPr/>
          <p:nvPr/>
        </p:nvSpPr>
        <p:spPr>
          <a:xfrm>
            <a:off x="466344" y="2286000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2" name="Shape 912"/>
          <p:cNvSpPr/>
          <p:nvPr/>
        </p:nvSpPr>
        <p:spPr>
          <a:xfrm>
            <a:off x="466344" y="2286000"/>
            <a:ext cx="1032266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3" name="Shape 913"/>
          <p:cNvSpPr/>
          <p:nvPr/>
        </p:nvSpPr>
        <p:spPr>
          <a:xfrm>
            <a:off x="1634947" y="2258568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4" name="Text 914"/>
          <p:cNvSpPr txBox="1"/>
          <p:nvPr/>
        </p:nvSpPr>
        <p:spPr>
          <a:xfrm>
            <a:off x="2487168" y="225856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53%</a:t>
            </a:r>
          </a:p>
        </p:txBody>
      </p:sp>
      <p:sp>
        <p:nvSpPr>
          <p:cNvPr id="915" name="Text 915"/>
          <p:cNvSpPr txBox="1"/>
          <p:nvPr/>
        </p:nvSpPr>
        <p:spPr>
          <a:xfrm>
            <a:off x="466344" y="2715768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SWD</a:t>
            </a:r>
          </a:p>
        </p:txBody>
      </p:sp>
      <p:sp>
        <p:nvSpPr>
          <p:cNvPr id="916" name="Text 916"/>
          <p:cNvSpPr txBox="1"/>
          <p:nvPr/>
        </p:nvSpPr>
        <p:spPr>
          <a:xfrm>
            <a:off x="1789024" y="2715768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118 responses</a:t>
            </a:r>
          </a:p>
        </p:txBody>
      </p:sp>
      <p:sp>
        <p:nvSpPr>
          <p:cNvPr id="917" name="Shape 917"/>
          <p:cNvSpPr/>
          <p:nvPr/>
        </p:nvSpPr>
        <p:spPr>
          <a:xfrm>
            <a:off x="466344" y="2944368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8" name="Shape 918"/>
          <p:cNvSpPr/>
          <p:nvPr/>
        </p:nvSpPr>
        <p:spPr>
          <a:xfrm>
            <a:off x="466344" y="2944368"/>
            <a:ext cx="779069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19" name="Shape 919"/>
          <p:cNvSpPr/>
          <p:nvPr/>
        </p:nvSpPr>
        <p:spPr>
          <a:xfrm>
            <a:off x="1634947" y="2916936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0" name="Text 920"/>
          <p:cNvSpPr txBox="1"/>
          <p:nvPr/>
        </p:nvSpPr>
        <p:spPr>
          <a:xfrm>
            <a:off x="2487168" y="29169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40%</a:t>
            </a:r>
          </a:p>
        </p:txBody>
      </p:sp>
      <p:sp>
        <p:nvSpPr>
          <p:cNvPr id="921" name="Text 921"/>
          <p:cNvSpPr txBox="1"/>
          <p:nvPr/>
        </p:nvSpPr>
        <p:spPr>
          <a:xfrm>
            <a:off x="466344" y="3374136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ELL</a:t>
            </a:r>
          </a:p>
        </p:txBody>
      </p:sp>
      <p:sp>
        <p:nvSpPr>
          <p:cNvPr id="922" name="Text 922"/>
          <p:cNvSpPr txBox="1"/>
          <p:nvPr/>
        </p:nvSpPr>
        <p:spPr>
          <a:xfrm>
            <a:off x="1789024" y="3374136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25 responses</a:t>
            </a:r>
          </a:p>
        </p:txBody>
      </p:sp>
      <p:sp>
        <p:nvSpPr>
          <p:cNvPr id="923" name="Shape 923"/>
          <p:cNvSpPr/>
          <p:nvPr/>
        </p:nvSpPr>
        <p:spPr>
          <a:xfrm>
            <a:off x="466344" y="3602736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4" name="Shape 924"/>
          <p:cNvSpPr/>
          <p:nvPr/>
        </p:nvSpPr>
        <p:spPr>
          <a:xfrm>
            <a:off x="466344" y="3602736"/>
            <a:ext cx="623255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5" name="Shape 925"/>
          <p:cNvSpPr/>
          <p:nvPr/>
        </p:nvSpPr>
        <p:spPr>
          <a:xfrm>
            <a:off x="1634947" y="3575304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6" name="Text 926"/>
          <p:cNvSpPr txBox="1"/>
          <p:nvPr/>
        </p:nvSpPr>
        <p:spPr>
          <a:xfrm>
            <a:off x="2487168" y="3575304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32%</a:t>
            </a:r>
          </a:p>
        </p:txBody>
      </p:sp>
      <p:sp>
        <p:nvSpPr>
          <p:cNvPr id="927" name="Text 927"/>
          <p:cNvSpPr txBox="1"/>
          <p:nvPr/>
        </p:nvSpPr>
        <p:spPr>
          <a:xfrm>
            <a:off x="1406347" y="3922776"/>
            <a:ext cx="45720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4A3B8"/>
                </a:solidFill>
              </a:rPr>
              <a:t>60%</a:t>
            </a:r>
          </a:p>
        </p:txBody>
      </p:sp>
      <p:sp>
        <p:nvSpPr>
          <p:cNvPr id="928" name="Shape 928"/>
          <p:cNvSpPr/>
          <p:nvPr/>
        </p:nvSpPr>
        <p:spPr>
          <a:xfrm>
            <a:off x="3241548" y="1161288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29" name="Shape 929"/>
          <p:cNvSpPr/>
          <p:nvPr/>
        </p:nvSpPr>
        <p:spPr>
          <a:xfrm>
            <a:off x="3223260" y="114300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F8FAFB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sz="800"/>
          </a:p>
        </p:txBody>
      </p:sp>
      <p:sp>
        <p:nvSpPr>
          <p:cNvPr id="930" name="Shape 930"/>
          <p:cNvSpPr/>
          <p:nvPr/>
        </p:nvSpPr>
        <p:spPr>
          <a:xfrm>
            <a:off x="5628132" y="1252728"/>
            <a:ext cx="256032" cy="256032"/>
          </a:xfrm>
          <a:prstGeom prst="ellipse">
            <a:avLst/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1" name="Text 931"/>
          <p:cNvSpPr txBox="1"/>
          <p:nvPr/>
        </p:nvSpPr>
        <p:spPr>
          <a:xfrm>
            <a:off x="5628132" y="12527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2" name="Text 932"/>
          <p:cNvSpPr txBox="1"/>
          <p:nvPr/>
        </p:nvSpPr>
        <p:spPr>
          <a:xfrm>
            <a:off x="3369564" y="128930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214F93"/>
                </a:solidFill>
              </a:rPr>
              <a:t>Analyze how characters are revealed through particular lines of dialogue or events</a:t>
            </a:r>
          </a:p>
        </p:txBody>
      </p:sp>
      <p:sp>
        <p:nvSpPr>
          <p:cNvPr id="933" name="Text 933"/>
          <p:cNvSpPr txBox="1"/>
          <p:nvPr/>
        </p:nvSpPr>
        <p:spPr>
          <a:xfrm>
            <a:off x="3369564" y="1709928"/>
            <a:ext cx="240487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A8398"/>
                </a:solidFill>
              </a:rPr>
              <a:t>Standard 11.RL.1.C</a:t>
            </a:r>
          </a:p>
        </p:txBody>
      </p:sp>
      <p:sp>
        <p:nvSpPr>
          <p:cNvPr id="934" name="Text 934"/>
          <p:cNvSpPr txBox="1"/>
          <p:nvPr/>
        </p:nvSpPr>
        <p:spPr>
          <a:xfrm>
            <a:off x="3369564" y="2057400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All students</a:t>
            </a:r>
          </a:p>
        </p:txBody>
      </p:sp>
      <p:sp>
        <p:nvSpPr>
          <p:cNvPr id="935" name="Text 935"/>
          <p:cNvSpPr txBox="1"/>
          <p:nvPr/>
        </p:nvSpPr>
        <p:spPr>
          <a:xfrm>
            <a:off x="4692244" y="2057400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1,338 responses</a:t>
            </a:r>
          </a:p>
        </p:txBody>
      </p:sp>
      <p:sp>
        <p:nvSpPr>
          <p:cNvPr id="936" name="Shape 936"/>
          <p:cNvSpPr/>
          <p:nvPr/>
        </p:nvSpPr>
        <p:spPr>
          <a:xfrm>
            <a:off x="3369564" y="2286000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7" name="Shape 937"/>
          <p:cNvSpPr/>
          <p:nvPr/>
        </p:nvSpPr>
        <p:spPr>
          <a:xfrm>
            <a:off x="3369564" y="2286000"/>
            <a:ext cx="1188080" cy="137160"/>
          </a:xfrm>
          <a:prstGeom prst="roundRect">
            <a:avLst>
              <a:gd name="adj" fmla="val 50000"/>
            </a:avLst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8" name="Shape 938"/>
          <p:cNvSpPr/>
          <p:nvPr/>
        </p:nvSpPr>
        <p:spPr>
          <a:xfrm>
            <a:off x="4538167" y="2258568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39" name="Text 939"/>
          <p:cNvSpPr txBox="1"/>
          <p:nvPr/>
        </p:nvSpPr>
        <p:spPr>
          <a:xfrm>
            <a:off x="5390388" y="225856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61%</a:t>
            </a:r>
          </a:p>
        </p:txBody>
      </p:sp>
      <p:sp>
        <p:nvSpPr>
          <p:cNvPr id="940" name="Text 940"/>
          <p:cNvSpPr txBox="1"/>
          <p:nvPr/>
        </p:nvSpPr>
        <p:spPr>
          <a:xfrm>
            <a:off x="3369564" y="2715768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SWD</a:t>
            </a:r>
          </a:p>
        </p:txBody>
      </p:sp>
      <p:sp>
        <p:nvSpPr>
          <p:cNvPr id="941" name="Text 941"/>
          <p:cNvSpPr txBox="1"/>
          <p:nvPr/>
        </p:nvSpPr>
        <p:spPr>
          <a:xfrm>
            <a:off x="4692244" y="2715768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196 responses</a:t>
            </a:r>
          </a:p>
        </p:txBody>
      </p:sp>
      <p:sp>
        <p:nvSpPr>
          <p:cNvPr id="942" name="Shape 942"/>
          <p:cNvSpPr/>
          <p:nvPr/>
        </p:nvSpPr>
        <p:spPr>
          <a:xfrm>
            <a:off x="3369564" y="2944368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3" name="Shape 943"/>
          <p:cNvSpPr/>
          <p:nvPr/>
        </p:nvSpPr>
        <p:spPr>
          <a:xfrm>
            <a:off x="3369564" y="2944368"/>
            <a:ext cx="1032266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4" name="Shape 944"/>
          <p:cNvSpPr/>
          <p:nvPr/>
        </p:nvSpPr>
        <p:spPr>
          <a:xfrm>
            <a:off x="4538167" y="2916936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5" name="Text 945"/>
          <p:cNvSpPr txBox="1"/>
          <p:nvPr/>
        </p:nvSpPr>
        <p:spPr>
          <a:xfrm>
            <a:off x="5390388" y="29169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53%</a:t>
            </a:r>
          </a:p>
        </p:txBody>
      </p:sp>
      <p:sp>
        <p:nvSpPr>
          <p:cNvPr id="946" name="Text 946"/>
          <p:cNvSpPr txBox="1"/>
          <p:nvPr/>
        </p:nvSpPr>
        <p:spPr>
          <a:xfrm>
            <a:off x="3369564" y="3374136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ELL</a:t>
            </a:r>
          </a:p>
        </p:txBody>
      </p:sp>
      <p:sp>
        <p:nvSpPr>
          <p:cNvPr id="947" name="Text 947"/>
          <p:cNvSpPr txBox="1"/>
          <p:nvPr/>
        </p:nvSpPr>
        <p:spPr>
          <a:xfrm>
            <a:off x="4692244" y="3374136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20 responses</a:t>
            </a:r>
          </a:p>
        </p:txBody>
      </p:sp>
      <p:sp>
        <p:nvSpPr>
          <p:cNvPr id="948" name="Shape 948"/>
          <p:cNvSpPr/>
          <p:nvPr/>
        </p:nvSpPr>
        <p:spPr>
          <a:xfrm>
            <a:off x="3369564" y="3602736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49" name="Shape 949"/>
          <p:cNvSpPr/>
          <p:nvPr/>
        </p:nvSpPr>
        <p:spPr>
          <a:xfrm>
            <a:off x="3369564" y="3602736"/>
            <a:ext cx="584302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0" name="Shape 950"/>
          <p:cNvSpPr/>
          <p:nvPr/>
        </p:nvSpPr>
        <p:spPr>
          <a:xfrm>
            <a:off x="4538167" y="3575304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1" name="Text 951"/>
          <p:cNvSpPr txBox="1"/>
          <p:nvPr/>
        </p:nvSpPr>
        <p:spPr>
          <a:xfrm>
            <a:off x="5390388" y="3575304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30%</a:t>
            </a:r>
          </a:p>
        </p:txBody>
      </p:sp>
      <p:sp>
        <p:nvSpPr>
          <p:cNvPr id="952" name="Text 952"/>
          <p:cNvSpPr txBox="1"/>
          <p:nvPr/>
        </p:nvSpPr>
        <p:spPr>
          <a:xfrm>
            <a:off x="4309567" y="3922776"/>
            <a:ext cx="45720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4A3B8"/>
                </a:solidFill>
              </a:rPr>
              <a:t>60%</a:t>
            </a:r>
          </a:p>
        </p:txBody>
      </p:sp>
      <p:sp>
        <p:nvSpPr>
          <p:cNvPr id="953" name="Shape 953"/>
          <p:cNvSpPr/>
          <p:nvPr/>
        </p:nvSpPr>
        <p:spPr>
          <a:xfrm>
            <a:off x="6144768" y="1161288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4" name="Shape 954"/>
          <p:cNvSpPr/>
          <p:nvPr/>
        </p:nvSpPr>
        <p:spPr>
          <a:xfrm>
            <a:off x="6126480" y="114300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F8FAFB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sz="800"/>
          </a:p>
        </p:txBody>
      </p:sp>
      <p:sp>
        <p:nvSpPr>
          <p:cNvPr id="955" name="Shape 955"/>
          <p:cNvSpPr/>
          <p:nvPr/>
        </p:nvSpPr>
        <p:spPr>
          <a:xfrm>
            <a:off x="8531352" y="1252728"/>
            <a:ext cx="256032" cy="256032"/>
          </a:xfrm>
          <a:prstGeom prst="ellipse">
            <a:avLst/>
          </a:prstGeom>
          <a:solidFill>
            <a:srgbClr val="214F93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56" name="Text 956"/>
          <p:cNvSpPr txBox="1"/>
          <p:nvPr/>
        </p:nvSpPr>
        <p:spPr>
          <a:xfrm>
            <a:off x="8531352" y="12527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57" name="Text 957"/>
          <p:cNvSpPr txBox="1"/>
          <p:nvPr/>
        </p:nvSpPr>
        <p:spPr>
          <a:xfrm>
            <a:off x="6272784" y="1289304"/>
            <a:ext cx="208483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214F93"/>
                </a:solidFill>
              </a:rPr>
              <a:t>Use context and sentence structure clues to clarify the meaning of words</a:t>
            </a:r>
          </a:p>
        </p:txBody>
      </p:sp>
      <p:sp>
        <p:nvSpPr>
          <p:cNvPr id="958" name="Text 958"/>
          <p:cNvSpPr txBox="1"/>
          <p:nvPr/>
        </p:nvSpPr>
        <p:spPr>
          <a:xfrm>
            <a:off x="6272784" y="1709928"/>
            <a:ext cx="2404872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7A8398"/>
                </a:solidFill>
              </a:rPr>
              <a:t>Standard 11.RVN.1.B</a:t>
            </a:r>
          </a:p>
        </p:txBody>
      </p:sp>
      <p:sp>
        <p:nvSpPr>
          <p:cNvPr id="959" name="Text 959"/>
          <p:cNvSpPr txBox="1"/>
          <p:nvPr/>
        </p:nvSpPr>
        <p:spPr>
          <a:xfrm>
            <a:off x="6272784" y="2057400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All students</a:t>
            </a:r>
          </a:p>
        </p:txBody>
      </p:sp>
      <p:sp>
        <p:nvSpPr>
          <p:cNvPr id="960" name="Text 960"/>
          <p:cNvSpPr txBox="1"/>
          <p:nvPr/>
        </p:nvSpPr>
        <p:spPr>
          <a:xfrm>
            <a:off x="7595464" y="2057400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402 responses</a:t>
            </a:r>
          </a:p>
        </p:txBody>
      </p:sp>
      <p:sp>
        <p:nvSpPr>
          <p:cNvPr id="961" name="Shape 961"/>
          <p:cNvSpPr/>
          <p:nvPr/>
        </p:nvSpPr>
        <p:spPr>
          <a:xfrm>
            <a:off x="6272784" y="2286000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2" name="Shape 962"/>
          <p:cNvSpPr/>
          <p:nvPr/>
        </p:nvSpPr>
        <p:spPr>
          <a:xfrm>
            <a:off x="6272784" y="2286000"/>
            <a:ext cx="1012789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3" name="Shape 963"/>
          <p:cNvSpPr/>
          <p:nvPr/>
        </p:nvSpPr>
        <p:spPr>
          <a:xfrm>
            <a:off x="7441387" y="2258568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4" name="Text 964"/>
          <p:cNvSpPr txBox="1"/>
          <p:nvPr/>
        </p:nvSpPr>
        <p:spPr>
          <a:xfrm>
            <a:off x="8293608" y="225856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52%</a:t>
            </a:r>
          </a:p>
        </p:txBody>
      </p:sp>
      <p:sp>
        <p:nvSpPr>
          <p:cNvPr id="965" name="Text 965"/>
          <p:cNvSpPr txBox="1"/>
          <p:nvPr/>
        </p:nvSpPr>
        <p:spPr>
          <a:xfrm>
            <a:off x="6272784" y="2715768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SWD</a:t>
            </a:r>
          </a:p>
        </p:txBody>
      </p:sp>
      <p:sp>
        <p:nvSpPr>
          <p:cNvPr id="966" name="Text 966"/>
          <p:cNvSpPr txBox="1"/>
          <p:nvPr/>
        </p:nvSpPr>
        <p:spPr>
          <a:xfrm>
            <a:off x="7595464" y="2715768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63 responses</a:t>
            </a:r>
          </a:p>
        </p:txBody>
      </p:sp>
      <p:sp>
        <p:nvSpPr>
          <p:cNvPr id="967" name="Shape 967"/>
          <p:cNvSpPr/>
          <p:nvPr/>
        </p:nvSpPr>
        <p:spPr>
          <a:xfrm>
            <a:off x="6272784" y="2944368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8" name="Shape 968"/>
          <p:cNvSpPr/>
          <p:nvPr/>
        </p:nvSpPr>
        <p:spPr>
          <a:xfrm>
            <a:off x="6272784" y="2944368"/>
            <a:ext cx="993313" cy="1371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69" name="Shape 969"/>
          <p:cNvSpPr/>
          <p:nvPr/>
        </p:nvSpPr>
        <p:spPr>
          <a:xfrm>
            <a:off x="7441387" y="2916936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0" name="Text 970"/>
          <p:cNvSpPr txBox="1"/>
          <p:nvPr/>
        </p:nvSpPr>
        <p:spPr>
          <a:xfrm>
            <a:off x="8293608" y="29169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51%</a:t>
            </a:r>
          </a:p>
        </p:txBody>
      </p:sp>
      <p:sp>
        <p:nvSpPr>
          <p:cNvPr id="971" name="Text 971"/>
          <p:cNvSpPr txBox="1"/>
          <p:nvPr/>
        </p:nvSpPr>
        <p:spPr>
          <a:xfrm>
            <a:off x="6272784" y="3374136"/>
            <a:ext cx="1322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20" b="1">
                <a:solidFill>
                  <a:srgbClr val="1F2A44"/>
                </a:solidFill>
              </a:rPr>
              <a:t>ELL</a:t>
            </a:r>
          </a:p>
        </p:txBody>
      </p:sp>
      <p:sp>
        <p:nvSpPr>
          <p:cNvPr id="972" name="Text 972"/>
          <p:cNvSpPr txBox="1"/>
          <p:nvPr/>
        </p:nvSpPr>
        <p:spPr>
          <a:xfrm>
            <a:off x="7595464" y="3374136"/>
            <a:ext cx="72146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7A8398"/>
                </a:solidFill>
              </a:rPr>
              <a:t>5 responses</a:t>
            </a:r>
          </a:p>
        </p:txBody>
      </p:sp>
      <p:sp>
        <p:nvSpPr>
          <p:cNvPr id="973" name="Shape 973"/>
          <p:cNvSpPr/>
          <p:nvPr/>
        </p:nvSpPr>
        <p:spPr>
          <a:xfrm>
            <a:off x="6272784" y="3602736"/>
            <a:ext cx="1947672" cy="137160"/>
          </a:xfrm>
          <a:prstGeom prst="roundRect">
            <a:avLst>
              <a:gd name="adj" fmla="val 50000"/>
            </a:avLst>
          </a:prstGeom>
          <a:solidFill>
            <a:srgbClr val="E6E9EF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4" name="Shape 974"/>
          <p:cNvSpPr/>
          <p:nvPr/>
        </p:nvSpPr>
        <p:spPr>
          <a:xfrm>
            <a:off x="6272784" y="3602736"/>
            <a:ext cx="779069" cy="1371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5" name="Shape 975"/>
          <p:cNvSpPr/>
          <p:nvPr/>
        </p:nvSpPr>
        <p:spPr>
          <a:xfrm>
            <a:off x="7441387" y="3575304"/>
            <a:ext cx="12802" cy="21031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6" name="Text 976"/>
          <p:cNvSpPr txBox="1"/>
          <p:nvPr/>
        </p:nvSpPr>
        <p:spPr>
          <a:xfrm>
            <a:off x="8293608" y="3575304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>
                <a:solidFill>
                  <a:srgbClr val="1F2A44"/>
                </a:solidFill>
              </a:rPr>
              <a:t>40%</a:t>
            </a:r>
          </a:p>
        </p:txBody>
      </p:sp>
      <p:sp>
        <p:nvSpPr>
          <p:cNvPr id="977" name="Text 977"/>
          <p:cNvSpPr txBox="1"/>
          <p:nvPr/>
        </p:nvSpPr>
        <p:spPr>
          <a:xfrm>
            <a:off x="7212787" y="3922776"/>
            <a:ext cx="457200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4A3B8"/>
                </a:solidFill>
              </a:rPr>
              <a:t>60%</a:t>
            </a:r>
          </a:p>
        </p:txBody>
      </p:sp>
      <p:sp>
        <p:nvSpPr>
          <p:cNvPr id="978" name="Shape 978"/>
          <p:cNvSpPr/>
          <p:nvPr/>
        </p:nvSpPr>
        <p:spPr>
          <a:xfrm>
            <a:off x="320040" y="4251960"/>
            <a:ext cx="850392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sz="800"/>
          </a:p>
        </p:txBody>
      </p:sp>
      <p:sp>
        <p:nvSpPr>
          <p:cNvPr id="979" name="Text 979"/>
          <p:cNvSpPr txBox="1"/>
          <p:nvPr/>
        </p:nvSpPr>
        <p:spPr>
          <a:xfrm>
            <a:off x="320040" y="4315968"/>
            <a:ext cx="8503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214F93"/>
                </a:solidFill>
              </a:rPr>
              <a:t>Overall Performance by Population</a:t>
            </a:r>
          </a:p>
        </p:txBody>
      </p:sp>
      <p:sp>
        <p:nvSpPr>
          <p:cNvPr id="980" name="Text 980"/>
          <p:cNvSpPr txBox="1"/>
          <p:nvPr/>
        </p:nvSpPr>
        <p:spPr>
          <a:xfrm>
            <a:off x="320040" y="4471416"/>
            <a:ext cx="8503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20">
                <a:solidFill>
                  <a:srgbClr val="1F2A44"/>
                </a:solidFill>
              </a:rPr>
              <a:t>All students </a:t>
            </a:r>
            <a:r>
              <a:rPr lang="en" sz="820" b="1">
                <a:solidFill>
                  <a:srgbClr val="214F93"/>
                </a:solidFill>
              </a:rPr>
              <a:t>63%</a:t>
            </a:r>
            <a:r>
              <a:rPr lang="en" sz="820">
                <a:solidFill>
                  <a:srgbClr val="1F2A44"/>
                </a:solidFill>
              </a:rPr>
              <a:t>  |  SWD </a:t>
            </a:r>
            <a:r>
              <a:rPr lang="en" sz="820" b="1">
                <a:solidFill>
                  <a:srgbClr val="EF4444"/>
                </a:solidFill>
              </a:rPr>
              <a:t>49%</a:t>
            </a:r>
            <a:r>
              <a:rPr lang="en" sz="820">
                <a:solidFill>
                  <a:srgbClr val="1F2A44"/>
                </a:solidFill>
              </a:rPr>
              <a:t>  |  ELL </a:t>
            </a:r>
            <a:r>
              <a:rPr lang="en" sz="820" b="1">
                <a:solidFill>
                  <a:srgbClr val="EF4444"/>
                </a:solidFill>
              </a:rPr>
              <a:t>44%</a:t>
            </a:r>
          </a:p>
        </p:txBody>
      </p:sp>
      <p:sp>
        <p:nvSpPr>
          <p:cNvPr id="981" name="Text 981"/>
          <p:cNvSpPr txBox="1"/>
          <p:nvPr/>
        </p:nvSpPr>
        <p:spPr>
          <a:xfrm>
            <a:off x="320040" y="4709160"/>
            <a:ext cx="8503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214F93"/>
                </a:solidFill>
              </a:rPr>
              <a:t>School Pass Rates (EOC threshold)</a:t>
            </a:r>
          </a:p>
        </p:txBody>
      </p:sp>
      <p:sp>
        <p:nvSpPr>
          <p:cNvPr id="982" name="Text 982"/>
          <p:cNvSpPr txBox="1"/>
          <p:nvPr/>
        </p:nvSpPr>
        <p:spPr>
          <a:xfrm>
            <a:off x="320040" y="4855464"/>
            <a:ext cx="8503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20">
                <a:solidFill>
                  <a:srgbClr val="10B981"/>
                </a:solidFill>
              </a:rPr>
              <a:t>All 78%</a:t>
            </a:r>
            <a:r>
              <a:rPr lang="en" sz="820">
                <a:solidFill>
                  <a:srgbClr val="1F2A44"/>
                </a:solidFill>
              </a:rPr>
              <a:t>  |  SWD 54%</a:t>
            </a:r>
            <a:r>
              <a:rPr lang="en" sz="820">
                <a:solidFill>
                  <a:srgbClr val="EF4444"/>
                </a:solidFill>
              </a:rPr>
              <a:t>  |  ELL 20%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