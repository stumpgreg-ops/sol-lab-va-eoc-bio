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Lst>
  <p:sldSz cy="5143500" cx="9144000"/>
  <p:notesSz cx="6858000" cy="9144000"/>
  <p:embeddedFontLst>
    <p:embeddedFont>
      <p:font typeface="Overpass"/>
      <p:regular r:id="rId8"/>
      <p:bold r:id="rId9"/>
      <p:italic r:id="rId10"/>
      <p:boldItalic r:id="rId11"/>
    </p:embeddedFont>
    <p:embeddedFont>
      <p:font typeface="Rubik"/>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BF01AC-D0E0-46D9-A612-D0EBE1C7AC7D}">
  <a:tblStyle styleId="{04BF01AC-D0E0-46D9-A612-D0EBE1C7AC7D}" styleName="Table_0">
    <a:wholeTbl>
      <a:tcTxStyle b="off" i="off">
        <a:font>
          <a:latin typeface="Gill Sans MT"/>
          <a:ea typeface="Gill Sans MT"/>
          <a:cs typeface="Gill Sans MT"/>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DF6E7"/>
          </a:solidFill>
        </a:fill>
      </a:tcStyle>
    </a:wholeTbl>
    <a:band1H>
      <a:tcTxStyle/>
      <a:tcStyle>
        <a:fill>
          <a:solidFill>
            <a:srgbClr val="D8EDCB"/>
          </a:solidFill>
        </a:fill>
      </a:tcStyle>
    </a:band1H>
    <a:band2H>
      <a:tcTxStyle/>
    </a:band2H>
    <a:band1V>
      <a:tcTxStyle/>
      <a:tcStyle>
        <a:fill>
          <a:solidFill>
            <a:srgbClr val="D8EDCB"/>
          </a:solidFill>
        </a:fill>
      </a:tcStyle>
    </a:band1V>
    <a:band2V>
      <a:tcTxStyle/>
    </a:band2V>
    <a:lastCol>
      <a:tcTxStyle b="on" i="off">
        <a:font>
          <a:latin typeface="Gill Sans MT"/>
          <a:ea typeface="Gill Sans MT"/>
          <a:cs typeface="Gill Sans MT"/>
        </a:font>
        <a:srgbClr val="FFFFFF"/>
      </a:tcTxStyle>
      <a:tcStyle>
        <a:fill>
          <a:solidFill>
            <a:srgbClr val="86CE24"/>
          </a:solidFill>
        </a:fill>
      </a:tcStyle>
    </a:lastCol>
    <a:firstCol>
      <a:tcTxStyle b="on" i="off">
        <a:font>
          <a:latin typeface="Gill Sans MT"/>
          <a:ea typeface="Gill Sans MT"/>
          <a:cs typeface="Gill Sans MT"/>
        </a:font>
        <a:srgbClr val="FFFFFF"/>
      </a:tcTxStyle>
      <a:tcStyle>
        <a:fill>
          <a:solidFill>
            <a:srgbClr val="86CE24"/>
          </a:solidFill>
        </a:fill>
      </a:tcStyle>
    </a:firstCol>
    <a:lastRow>
      <a:tcTxStyle b="on" i="off">
        <a:font>
          <a:latin typeface="Gill Sans MT"/>
          <a:ea typeface="Gill Sans MT"/>
          <a:cs typeface="Gill Sans MT"/>
        </a:font>
        <a:srgbClr val="FFFFFF"/>
      </a:tcTxStyle>
      <a:tcStyle>
        <a:tcBdr>
          <a:top>
            <a:ln cap="flat" cmpd="sng" w="38100">
              <a:solidFill>
                <a:srgbClr val="FFFFFF"/>
              </a:solidFill>
              <a:prstDash val="solid"/>
              <a:round/>
              <a:headEnd len="sm" w="sm" type="none"/>
              <a:tailEnd len="sm" w="sm" type="none"/>
            </a:ln>
          </a:top>
        </a:tcBdr>
        <a:fill>
          <a:solidFill>
            <a:srgbClr val="86CE24"/>
          </a:solidFill>
        </a:fill>
      </a:tcStyle>
    </a:lastRow>
    <a:seCell>
      <a:tcTxStyle/>
    </a:seCell>
    <a:swCell>
      <a:tcTxStyle/>
    </a:swCell>
    <a:firstRow>
      <a:tcTxStyle b="on" i="off">
        <a:font>
          <a:latin typeface="Gill Sans MT"/>
          <a:ea typeface="Gill Sans MT"/>
          <a:cs typeface="Gill Sans MT"/>
        </a:font>
        <a:srgbClr val="FFFFFF"/>
      </a:tcTxStyle>
      <a:tcStyle>
        <a:tcBdr>
          <a:bottom>
            <a:ln cap="flat" cmpd="sng" w="38100">
              <a:solidFill>
                <a:srgbClr val="FFFFFF"/>
              </a:solidFill>
              <a:prstDash val="solid"/>
              <a:round/>
              <a:headEnd len="sm" w="sm" type="none"/>
              <a:tailEnd len="sm" w="sm" type="none"/>
            </a:ln>
          </a:bottom>
        </a:tcBdr>
        <a:fill>
          <a:solidFill>
            <a:srgbClr val="86CE24"/>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Overpass-boldItalic.fntdata"/><Relationship Id="rId10" Type="http://schemas.openxmlformats.org/officeDocument/2006/relationships/font" Target="fonts/Overpass-italic.fntdata"/><Relationship Id="rId13" Type="http://schemas.openxmlformats.org/officeDocument/2006/relationships/font" Target="fonts/Rubik-bold.fntdata"/><Relationship Id="rId12" Type="http://schemas.openxmlformats.org/officeDocument/2006/relationships/font" Target="fonts/Rubik-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Overpass-bold.fntdata"/><Relationship Id="rId15" Type="http://schemas.openxmlformats.org/officeDocument/2006/relationships/font" Target="fonts/Rubik-boldItalic.fntdata"/><Relationship Id="rId14" Type="http://schemas.openxmlformats.org/officeDocument/2006/relationships/font" Target="fonts/Rubik-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Overpas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b72aac7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3fb72aac7e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Based on your SOL data, what changes have you made to Tier 1 instructional delivery this school year, and what evidence do you have that those changes are beginning to impact student learning?</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What did your data identify as the most significant instructional needs or gaps?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What specifically are teachers doing differently in Tier 1 instruction this year as a result?</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How are you monitoring whether those instructional changes are being implemented consistently?</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What early evidence: student work, common assessments, walkthrough data, formative data, etc.</a:t>
            </a:r>
            <a:r>
              <a:rPr b="1" i="1" lang="en">
                <a:solidFill>
                  <a:schemeClr val="dk1"/>
                </a:solidFill>
              </a:rPr>
              <a:t>(indicates whether the changes are having the intended impact?)</a:t>
            </a:r>
            <a:endParaRPr b="1" i="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Now that you are seeing progress, where do you need to adjust your instructional response?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Principals should think about- </a:t>
            </a:r>
            <a:r>
              <a:rPr b="1" lang="en">
                <a:solidFill>
                  <a:schemeClr val="dk1"/>
                </a:solidFill>
              </a:rPr>
              <a:t>“What are you doing differently because of what the data told you?”</a:t>
            </a:r>
            <a:endParaRPr b="1">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55" name="Google Shape;55;p13"/>
          <p:cNvSpPr/>
          <p:nvPr/>
        </p:nvSpPr>
        <p:spPr>
          <a:xfrm>
            <a:off x="-21225" y="4810975"/>
            <a:ext cx="9211500" cy="332400"/>
          </a:xfrm>
          <a:prstGeom prst="rect">
            <a:avLst/>
          </a:prstGeom>
          <a:solidFill>
            <a:srgbClr val="214F9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verpass"/>
              <a:ea typeface="Overpass"/>
              <a:cs typeface="Overpass"/>
              <a:sym typeface="Overpass"/>
            </a:endParaRPr>
          </a:p>
        </p:txBody>
      </p:sp>
      <p:sp>
        <p:nvSpPr>
          <p:cNvPr id="56" name="Google Shape;56;p13"/>
          <p:cNvSpPr txBox="1"/>
          <p:nvPr>
            <p:ph type="ctrTitle"/>
          </p:nvPr>
        </p:nvSpPr>
        <p:spPr>
          <a:xfrm>
            <a:off x="880625" y="-239275"/>
            <a:ext cx="7674300" cy="1071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500"/>
              <a:buNone/>
            </a:pPr>
            <a:r>
              <a:rPr lang="en" sz="3000">
                <a:solidFill>
                  <a:srgbClr val="214F93"/>
                </a:solidFill>
              </a:rPr>
              <a:t>Instructional Response to SOL Data</a:t>
            </a:r>
            <a:endParaRPr sz="3000">
              <a:solidFill>
                <a:srgbClr val="214F93"/>
              </a:solidFill>
            </a:endParaRPr>
          </a:p>
        </p:txBody>
      </p:sp>
      <p:sp>
        <p:nvSpPr>
          <p:cNvPr id="57" name="Google Shape;57;p13"/>
          <p:cNvSpPr txBox="1"/>
          <p:nvPr>
            <p:ph idx="1" type="subTitle"/>
          </p:nvPr>
        </p:nvSpPr>
        <p:spPr>
          <a:xfrm>
            <a:off x="218075" y="1139450"/>
            <a:ext cx="8581500" cy="464400"/>
          </a:xfrm>
          <a:prstGeom prst="rect">
            <a:avLst/>
          </a:prstGeom>
          <a:noFill/>
          <a:ln>
            <a:noFill/>
          </a:ln>
        </p:spPr>
        <p:txBody>
          <a:bodyPr anchorCtr="0" anchor="t" bIns="91425" lIns="91425" spcFirstLastPara="1" rIns="91425" wrap="square" tIns="91425">
            <a:noAutofit/>
          </a:bodyPr>
          <a:lstStyle/>
          <a:p>
            <a:pPr indent="0" lvl="0" marL="457200" rtl="0" algn="ctr">
              <a:lnSpc>
                <a:spcPct val="100000"/>
              </a:lnSpc>
              <a:spcBef>
                <a:spcPts val="0"/>
              </a:spcBef>
              <a:spcAft>
                <a:spcPts val="0"/>
              </a:spcAft>
              <a:buNone/>
            </a:pPr>
            <a:r>
              <a:t/>
            </a:r>
            <a:endParaRPr sz="1900">
              <a:solidFill>
                <a:srgbClr val="214F93"/>
              </a:solidFill>
            </a:endParaRPr>
          </a:p>
          <a:p>
            <a:pPr indent="0" lvl="0" marL="457200" rtl="0" algn="ctr">
              <a:lnSpc>
                <a:spcPct val="100000"/>
              </a:lnSpc>
              <a:spcBef>
                <a:spcPts val="0"/>
              </a:spcBef>
              <a:spcAft>
                <a:spcPts val="0"/>
              </a:spcAft>
              <a:buNone/>
            </a:pPr>
            <a:r>
              <a:rPr lang="en" sz="1900">
                <a:solidFill>
                  <a:srgbClr val="214F93"/>
                </a:solidFill>
              </a:rPr>
              <a:t> </a:t>
            </a:r>
            <a:endParaRPr sz="1900">
              <a:solidFill>
                <a:srgbClr val="214F93"/>
              </a:solidFill>
            </a:endParaRPr>
          </a:p>
        </p:txBody>
      </p:sp>
      <p:graphicFrame>
        <p:nvGraphicFramePr>
          <p:cNvPr id="58" name="Google Shape;58;p13"/>
          <p:cNvGraphicFramePr/>
          <p:nvPr/>
        </p:nvGraphicFramePr>
        <p:xfrm>
          <a:off x="293775" y="746334"/>
          <a:ext cx="3000000" cy="3000000"/>
        </p:xfrm>
        <a:graphic>
          <a:graphicData uri="http://schemas.openxmlformats.org/drawingml/2006/table">
            <a:tbl>
              <a:tblPr bandRow="1" firstRow="1">
                <a:noFill/>
                <a:tableStyleId>{04BF01AC-D0E0-46D9-A612-D0EBE1C7AC7D}</a:tableStyleId>
              </a:tblPr>
              <a:tblGrid>
                <a:gridCol w="2145375"/>
                <a:gridCol w="2145375"/>
                <a:gridCol w="2145375"/>
                <a:gridCol w="2145375"/>
              </a:tblGrid>
              <a:tr h="626000">
                <a:tc>
                  <a:txBody>
                    <a:bodyPr/>
                    <a:lstStyle/>
                    <a:p>
                      <a:pPr indent="0" lvl="0" marL="0" marR="0" rtl="0" algn="ctr">
                        <a:spcBef>
                          <a:spcPts val="0"/>
                        </a:spcBef>
                        <a:spcAft>
                          <a:spcPts val="0"/>
                        </a:spcAft>
                        <a:buNone/>
                      </a:pPr>
                      <a:r>
                        <a:rPr b="0" lang="en" sz="1600">
                          <a:solidFill>
                            <a:schemeClr val="accent3"/>
                          </a:solidFill>
                          <a:latin typeface="Rubik"/>
                          <a:ea typeface="Rubik"/>
                          <a:cs typeface="Rubik"/>
                          <a:sym typeface="Rubik"/>
                        </a:rPr>
                        <a:t>Reading</a:t>
                      </a:r>
                      <a:endParaRPr b="0" sz="1600">
                        <a:solidFill>
                          <a:schemeClr val="accent3"/>
                        </a:solidFill>
                        <a:latin typeface="Rubik"/>
                        <a:ea typeface="Rubik"/>
                        <a:cs typeface="Rubik"/>
                        <a:sym typeface="Rubik"/>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214F93"/>
                    </a:solidFill>
                  </a:tcPr>
                </a:tc>
                <a:tc>
                  <a:txBody>
                    <a:bodyPr/>
                    <a:lstStyle/>
                    <a:p>
                      <a:pPr indent="0" lvl="0" marL="0" marR="0" rtl="0" algn="ctr">
                        <a:spcBef>
                          <a:spcPts val="0"/>
                        </a:spcBef>
                        <a:spcAft>
                          <a:spcPts val="0"/>
                        </a:spcAft>
                        <a:buNone/>
                      </a:pPr>
                      <a:r>
                        <a:rPr b="0" lang="en" sz="1600">
                          <a:solidFill>
                            <a:schemeClr val="accent3"/>
                          </a:solidFill>
                          <a:latin typeface="Rubik"/>
                          <a:ea typeface="Rubik"/>
                          <a:cs typeface="Rubik"/>
                          <a:sym typeface="Rubik"/>
                        </a:rPr>
                        <a:t>Math</a:t>
                      </a:r>
                      <a:endParaRPr b="0" sz="1600">
                        <a:solidFill>
                          <a:schemeClr val="accent3"/>
                        </a:solidFill>
                        <a:latin typeface="Rubik"/>
                        <a:ea typeface="Rubik"/>
                        <a:cs typeface="Rubik"/>
                        <a:sym typeface="Rubik"/>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214F93"/>
                    </a:solidFill>
                  </a:tcPr>
                </a:tc>
                <a:tc>
                  <a:txBody>
                    <a:bodyPr/>
                    <a:lstStyle/>
                    <a:p>
                      <a:pPr indent="0" lvl="0" marL="0" rtl="0" algn="ctr">
                        <a:spcBef>
                          <a:spcPts val="0"/>
                        </a:spcBef>
                        <a:spcAft>
                          <a:spcPts val="0"/>
                        </a:spcAft>
                        <a:buClr>
                          <a:srgbClr val="000000"/>
                        </a:buClr>
                        <a:buFont typeface="Arial"/>
                        <a:buNone/>
                      </a:pPr>
                      <a:r>
                        <a:rPr b="0" lang="en" sz="1600">
                          <a:solidFill>
                            <a:schemeClr val="accent3"/>
                          </a:solidFill>
                          <a:latin typeface="Rubik"/>
                          <a:ea typeface="Rubik"/>
                          <a:cs typeface="Rubik"/>
                          <a:sym typeface="Rubik"/>
                        </a:rPr>
                        <a:t>Science</a:t>
                      </a:r>
                      <a:endParaRPr b="0" sz="1600">
                        <a:solidFill>
                          <a:schemeClr val="accent3"/>
                        </a:solidFill>
                        <a:latin typeface="Rubik"/>
                        <a:ea typeface="Rubik"/>
                        <a:cs typeface="Rubik"/>
                        <a:sym typeface="Rubik"/>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214F93"/>
                    </a:solidFill>
                  </a:tcPr>
                </a:tc>
                <a:tc>
                  <a:txBody>
                    <a:bodyPr/>
                    <a:lstStyle/>
                    <a:p>
                      <a:pPr indent="0" lvl="0" marL="0" rtl="0" algn="ctr">
                        <a:spcBef>
                          <a:spcPts val="0"/>
                        </a:spcBef>
                        <a:spcAft>
                          <a:spcPts val="0"/>
                        </a:spcAft>
                        <a:buClr>
                          <a:srgbClr val="000000"/>
                        </a:buClr>
                        <a:buFont typeface="Arial"/>
                        <a:buNone/>
                      </a:pPr>
                      <a:r>
                        <a:rPr b="0" lang="en" sz="1600">
                          <a:solidFill>
                            <a:schemeClr val="accent3"/>
                          </a:solidFill>
                          <a:latin typeface="Rubik"/>
                          <a:ea typeface="Rubik"/>
                          <a:cs typeface="Rubik"/>
                          <a:sym typeface="Rubik"/>
                        </a:rPr>
                        <a:t>History</a:t>
                      </a:r>
                      <a:endParaRPr b="0" sz="1600">
                        <a:solidFill>
                          <a:schemeClr val="accent3"/>
                        </a:solidFill>
                        <a:latin typeface="Rubik"/>
                        <a:ea typeface="Rubik"/>
                        <a:cs typeface="Rubik"/>
                        <a:sym typeface="Rubik"/>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214F93"/>
                    </a:solidFill>
                  </a:tcPr>
                </a:tc>
              </a:tr>
              <a:tr h="559750">
                <a:tc rowSpan="6">
                  <a:txBody>
                    <a:bodyPr/>
                    <a:lstStyle/>
                    <a:p>
                      <a:pPr indent="0" lvl="0" marL="0" rtl="0" algn="l">
                        <a:lnSpc>
                          <a:spcPct val="115000"/>
                        </a:lnSpc>
                        <a:spcBef>
                          <a:spcPts val="0"/>
                        </a:spcBef>
                        <a:spcAft>
                          <a:spcPts val="0"/>
                        </a:spcAft>
                        <a:buClr>
                          <a:schemeClr val="dk1"/>
                        </a:buClr>
                        <a:buSzPts val="1100"/>
                        <a:buFont typeface="Arial"/>
                        <a:buNone/>
                      </a:pPr>
                      <a:r>
                        <a:rPr b="1" lang="en" sz="800">
                          <a:solidFill>
                            <a:srgbClr val="214F93"/>
                          </a:solidFill>
                          <a:latin typeface="Arial"/>
                          <a:ea typeface="Arial"/>
                          <a:cs typeface="Arial"/>
                          <a:sym typeface="Arial"/>
                        </a:rPr>
                        <a:t>Significant Gaps</a:t>
                      </a:r>
                      <a:endParaRPr b="1" sz="800">
                        <a:solidFill>
                          <a:srgbClr val="214F93"/>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 sz="650">
                          <a:solidFill>
                            <a:schemeClr val="dk1"/>
                          </a:solidFill>
                          <a:latin typeface="Arial"/>
                          <a:ea typeface="Arial"/>
                          <a:cs typeface="Arial"/>
                          <a:sym typeface="Arial"/>
                        </a:rPr>
                        <a:t>% correct: all 62%, SWD 49%, MLL 44% (five MLL students). Priority skills (all / SWD / MLL):</a:t>
                      </a:r>
                      <a:endParaRPr sz="650">
                        <a:solidFill>
                          <a:schemeClr val="dk1"/>
                        </a:solidFill>
                        <a:latin typeface="Arial"/>
                        <a:ea typeface="Arial"/>
                        <a:cs typeface="Arial"/>
                        <a:sym typeface="Arial"/>
                      </a:endParaRPr>
                    </a:p>
                    <a:p>
                      <a:pPr indent="0" lvl="0" marL="0" rtl="0" algn="l">
                        <a:lnSpc>
                          <a:spcPct val="115000"/>
                        </a:lnSpc>
                        <a:spcBef>
                          <a:spcPts val="100"/>
                        </a:spcBef>
                        <a:spcAft>
                          <a:spcPts val="0"/>
                        </a:spcAft>
                        <a:buClr>
                          <a:schemeClr val="dk1"/>
                        </a:buClr>
                        <a:buSzPts val="1100"/>
                        <a:buFont typeface="Arial"/>
                        <a:buNone/>
                      </a:pPr>
                      <a:r>
                        <a:rPr lang="en" sz="650">
                          <a:solidFill>
                            <a:schemeClr val="dk1"/>
                          </a:solidFill>
                          <a:latin typeface="Arial"/>
                          <a:ea typeface="Arial"/>
                          <a:cs typeface="Arial"/>
                          <a:sym typeface="Arial"/>
                        </a:rPr>
                        <a:t>•</a:t>
                      </a:r>
                      <a:r>
                        <a:rPr b="1" lang="en" sz="650">
                          <a:solidFill>
                            <a:schemeClr val="dk1"/>
                          </a:solidFill>
                          <a:latin typeface="Arial"/>
                          <a:ea typeface="Arial"/>
                          <a:cs typeface="Arial"/>
                          <a:sym typeface="Arial"/>
                        </a:rPr>
                        <a:t>Evaluate details in a text, determining which could confirm or disprove an argument or position</a:t>
                      </a:r>
                      <a:r>
                        <a:rPr lang="en" sz="650">
                          <a:solidFill>
                            <a:schemeClr val="dk1"/>
                          </a:solidFill>
                          <a:latin typeface="Arial"/>
                          <a:ea typeface="Arial"/>
                          <a:cs typeface="Arial"/>
                          <a:sym typeface="Arial"/>
                        </a:rPr>
                        <a:t> (10.RI.1.C): 52% / 41% / 32% (8/25).</a:t>
                      </a:r>
                      <a:endParaRPr sz="650">
                        <a:solidFill>
                          <a:schemeClr val="dk1"/>
                        </a:solidFill>
                        <a:latin typeface="Arial"/>
                        <a:ea typeface="Arial"/>
                        <a:cs typeface="Arial"/>
                        <a:sym typeface="Arial"/>
                      </a:endParaRPr>
                    </a:p>
                    <a:p>
                      <a:pPr indent="0" lvl="0" marL="0" rtl="0" algn="l">
                        <a:lnSpc>
                          <a:spcPct val="115000"/>
                        </a:lnSpc>
                        <a:spcBef>
                          <a:spcPts val="100"/>
                        </a:spcBef>
                        <a:spcAft>
                          <a:spcPts val="0"/>
                        </a:spcAft>
                        <a:buClr>
                          <a:schemeClr val="dk1"/>
                        </a:buClr>
                        <a:buSzPts val="1100"/>
                        <a:buFont typeface="Arial"/>
                        <a:buNone/>
                      </a:pPr>
                      <a:r>
                        <a:rPr lang="en" sz="650">
                          <a:solidFill>
                            <a:schemeClr val="dk1"/>
                          </a:solidFill>
                          <a:latin typeface="Arial"/>
                          <a:ea typeface="Arial"/>
                          <a:cs typeface="Arial"/>
                          <a:sym typeface="Arial"/>
                        </a:rPr>
                        <a:t>•</a:t>
                      </a:r>
                      <a:r>
                        <a:rPr b="1" lang="en" sz="650">
                          <a:solidFill>
                            <a:schemeClr val="dk1"/>
                          </a:solidFill>
                          <a:latin typeface="Arial"/>
                          <a:ea typeface="Arial"/>
                          <a:cs typeface="Arial"/>
                          <a:sym typeface="Arial"/>
                        </a:rPr>
                        <a:t>Analyze the author's purpose and impact of literary techniques in a text</a:t>
                      </a:r>
                      <a:r>
                        <a:rPr lang="en" sz="650">
                          <a:solidFill>
                            <a:schemeClr val="dk1"/>
                          </a:solidFill>
                          <a:latin typeface="Arial"/>
                          <a:ea typeface="Arial"/>
                          <a:cs typeface="Arial"/>
                          <a:sym typeface="Arial"/>
                        </a:rPr>
                        <a:t> (11.RI.2.C): 36% / 20% / 100% (5/5, one low-difficulty item).</a:t>
                      </a:r>
                      <a:endParaRPr sz="650">
                        <a:solidFill>
                          <a:schemeClr val="dk1"/>
                        </a:solidFill>
                        <a:latin typeface="Arial"/>
                        <a:ea typeface="Arial"/>
                        <a:cs typeface="Arial"/>
                        <a:sym typeface="Arial"/>
                      </a:endParaRPr>
                    </a:p>
                    <a:p>
                      <a:pPr indent="0" lvl="0" marL="0" rtl="0" algn="l">
                        <a:lnSpc>
                          <a:spcPct val="115000"/>
                        </a:lnSpc>
                        <a:spcBef>
                          <a:spcPts val="100"/>
                        </a:spcBef>
                        <a:spcAft>
                          <a:spcPts val="0"/>
                        </a:spcAft>
                        <a:buClr>
                          <a:schemeClr val="dk1"/>
                        </a:buClr>
                        <a:buSzPts val="1100"/>
                        <a:buFont typeface="Arial"/>
                        <a:buNone/>
                      </a:pPr>
                      <a:r>
                        <a:rPr lang="en" sz="650">
                          <a:solidFill>
                            <a:schemeClr val="dk1"/>
                          </a:solidFill>
                          <a:latin typeface="Arial"/>
                          <a:ea typeface="Arial"/>
                          <a:cs typeface="Arial"/>
                          <a:sym typeface="Arial"/>
                        </a:rPr>
                        <a:t>•</a:t>
                      </a:r>
                      <a:r>
                        <a:rPr b="1" lang="en" sz="650">
                          <a:solidFill>
                            <a:schemeClr val="dk1"/>
                          </a:solidFill>
                          <a:latin typeface="Arial"/>
                          <a:ea typeface="Arial"/>
                          <a:cs typeface="Arial"/>
                          <a:sym typeface="Arial"/>
                        </a:rPr>
                        <a:t>Evaluate how word choice, syntax, tone or voice conveys an author's intent and viewpoint</a:t>
                      </a:r>
                      <a:r>
                        <a:rPr lang="en" sz="650">
                          <a:solidFill>
                            <a:schemeClr val="dk1"/>
                          </a:solidFill>
                          <a:latin typeface="Arial"/>
                          <a:ea typeface="Arial"/>
                          <a:cs typeface="Arial"/>
                          <a:sym typeface="Arial"/>
                        </a:rPr>
                        <a:t> (11.RL.2.B): 58% / 41% / 20% (2/10).</a:t>
                      </a:r>
                      <a:endParaRPr sz="650">
                        <a:solidFill>
                          <a:schemeClr val="dk1"/>
                        </a:solidFill>
                        <a:latin typeface="Arial"/>
                        <a:ea typeface="Arial"/>
                        <a:cs typeface="Arial"/>
                        <a:sym typeface="Arial"/>
                      </a:endParaRPr>
                    </a:p>
                    <a:p>
                      <a:pPr indent="0" lvl="0" marL="0" rtl="0" algn="l">
                        <a:lnSpc>
                          <a:spcPct val="115000"/>
                        </a:lnSpc>
                        <a:spcBef>
                          <a:spcPts val="100"/>
                        </a:spcBef>
                        <a:spcAft>
                          <a:spcPts val="0"/>
                        </a:spcAft>
                        <a:buClr>
                          <a:schemeClr val="dk1"/>
                        </a:buClr>
                        <a:buSzPts val="1100"/>
                        <a:buFont typeface="Arial"/>
                        <a:buNone/>
                      </a:pPr>
                      <a:r>
                        <a:rPr b="1" lang="en" sz="650">
                          <a:solidFill>
                            <a:schemeClr val="dk1"/>
                          </a:solidFill>
                          <a:latin typeface="Arial"/>
                          <a:ea typeface="Arial"/>
                          <a:cs typeface="Arial"/>
                          <a:sym typeface="Arial"/>
                        </a:rPr>
                        <a:t>Bloom’s:</a:t>
                      </a:r>
                      <a:r>
                        <a:rPr lang="en" sz="650">
                          <a:solidFill>
                            <a:schemeClr val="dk1"/>
                          </a:solidFill>
                          <a:latin typeface="Arial"/>
                          <a:ea typeface="Arial"/>
                          <a:cs typeface="Arial"/>
                          <a:sym typeface="Arial"/>
                        </a:rPr>
                        <a:t xml:space="preserve"> all three are higher-order; evaluate items fell 64% to 55%, analyze held at 62%.</a:t>
                      </a:r>
                      <a:endParaRPr sz="650">
                        <a:solidFill>
                          <a:schemeClr val="dk1"/>
                        </a:solidFill>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b="1" lang="en" sz="800">
                          <a:solidFill>
                            <a:srgbClr val="214F93"/>
                          </a:solidFill>
                          <a:latin typeface="Arial"/>
                          <a:ea typeface="Arial"/>
                          <a:cs typeface="Arial"/>
                          <a:sym typeface="Arial"/>
                        </a:rPr>
                        <a:t>Changes to Tier 1</a:t>
                      </a:r>
                      <a:endParaRPr b="1" sz="800">
                        <a:solidFill>
                          <a:srgbClr val="214F93"/>
                        </a:solidFill>
                        <a:latin typeface="Arial"/>
                        <a:ea typeface="Arial"/>
                        <a:cs typeface="Arial"/>
                        <a:sym typeface="Arial"/>
                      </a:endParaRPr>
                    </a:p>
                    <a:p>
                      <a:pPr indent="0" lvl="0" marL="0" rtl="0" algn="l">
                        <a:lnSpc>
                          <a:spcPct val="115000"/>
                        </a:lnSpc>
                        <a:spcBef>
                          <a:spcPts val="100"/>
                        </a:spcBef>
                        <a:spcAft>
                          <a:spcPts val="0"/>
                        </a:spcAft>
                        <a:buClr>
                          <a:schemeClr val="dk1"/>
                        </a:buClr>
                        <a:buSzPts val="1100"/>
                        <a:buFont typeface="Arial"/>
                        <a:buNone/>
                      </a:pPr>
                      <a:r>
                        <a:rPr lang="en" sz="650">
                          <a:solidFill>
                            <a:schemeClr val="dk1"/>
                          </a:solidFill>
                          <a:latin typeface="Arial"/>
                          <a:ea typeface="Arial"/>
                          <a:cs typeface="Arial"/>
                          <a:sym typeface="Arial"/>
                        </a:rPr>
                        <a:t>•</a:t>
                      </a:r>
                      <a:r>
                        <a:rPr b="1" lang="en" sz="650">
                          <a:solidFill>
                            <a:schemeClr val="dk1"/>
                          </a:solidFill>
                          <a:latin typeface="Arial"/>
                          <a:ea typeface="Arial"/>
                          <a:cs typeface="Arial"/>
                          <a:sym typeface="Arial"/>
                        </a:rPr>
                        <a:t>Claim check (10.RI.1.C):</a:t>
                      </a:r>
                      <a:r>
                        <a:rPr lang="en" sz="650">
                          <a:solidFill>
                            <a:schemeClr val="dk1"/>
                          </a:solidFill>
                          <a:latin typeface="Arial"/>
                          <a:ea typeface="Arial"/>
                          <a:cs typeface="Arial"/>
                          <a:sym typeface="Arial"/>
                        </a:rPr>
                        <a:t> weekly paired-passage task sorting details that confirm vs. disprove a claim; teacher think-aloud + PEE/CER.</a:t>
                      </a:r>
                      <a:endParaRPr sz="650">
                        <a:solidFill>
                          <a:schemeClr val="dk1"/>
                        </a:solidFill>
                        <a:latin typeface="Arial"/>
                        <a:ea typeface="Arial"/>
                        <a:cs typeface="Arial"/>
                        <a:sym typeface="Arial"/>
                      </a:endParaRPr>
                    </a:p>
                    <a:p>
                      <a:pPr indent="0" lvl="0" marL="0" rtl="0" algn="l">
                        <a:lnSpc>
                          <a:spcPct val="115000"/>
                        </a:lnSpc>
                        <a:spcBef>
                          <a:spcPts val="100"/>
                        </a:spcBef>
                        <a:spcAft>
                          <a:spcPts val="0"/>
                        </a:spcAft>
                        <a:buClr>
                          <a:schemeClr val="dk1"/>
                        </a:buClr>
                        <a:buSzPts val="1100"/>
                        <a:buFont typeface="Arial"/>
                        <a:buNone/>
                      </a:pPr>
                      <a:r>
                        <a:rPr lang="en" sz="650">
                          <a:solidFill>
                            <a:schemeClr val="dk1"/>
                          </a:solidFill>
                          <a:latin typeface="Arial"/>
                          <a:ea typeface="Arial"/>
                          <a:cs typeface="Arial"/>
                          <a:sym typeface="Arial"/>
                        </a:rPr>
                        <a:t>•</a:t>
                      </a:r>
                      <a:r>
                        <a:rPr b="1" lang="en" sz="650">
                          <a:solidFill>
                            <a:schemeClr val="dk1"/>
                          </a:solidFill>
                          <a:latin typeface="Arial"/>
                          <a:ea typeface="Arial"/>
                          <a:cs typeface="Arial"/>
                          <a:sym typeface="Arial"/>
                        </a:rPr>
                        <a:t>Purpose &amp; technique analysis (11.RI.2.C):</a:t>
                      </a:r>
                      <a:r>
                        <a:rPr lang="en" sz="650">
                          <a:solidFill>
                            <a:schemeClr val="dk1"/>
                          </a:solidFill>
                          <a:latin typeface="Arial"/>
                          <a:ea typeface="Arial"/>
                          <a:cs typeface="Arial"/>
                          <a:sym typeface="Arial"/>
                        </a:rPr>
                        <a:t> students mark one literary technique and write: “The author uses [technique] to [effect]; this reveals [purpose].” Organizer + sentence starters for SWD/MLL.</a:t>
                      </a:r>
                      <a:endParaRPr sz="650">
                        <a:solidFill>
                          <a:schemeClr val="dk1"/>
                        </a:solidFill>
                        <a:latin typeface="Arial"/>
                        <a:ea typeface="Arial"/>
                        <a:cs typeface="Arial"/>
                        <a:sym typeface="Arial"/>
                      </a:endParaRPr>
                    </a:p>
                    <a:p>
                      <a:pPr indent="0" lvl="0" marL="0" rtl="0" algn="l">
                        <a:lnSpc>
                          <a:spcPct val="115000"/>
                        </a:lnSpc>
                        <a:spcBef>
                          <a:spcPts val="100"/>
                        </a:spcBef>
                        <a:spcAft>
                          <a:spcPts val="0"/>
                        </a:spcAft>
                        <a:buClr>
                          <a:schemeClr val="dk1"/>
                        </a:buClr>
                        <a:buSzPts val="1100"/>
                        <a:buFont typeface="Arial"/>
                        <a:buNone/>
                      </a:pPr>
                      <a:r>
                        <a:rPr lang="en" sz="650">
                          <a:solidFill>
                            <a:schemeClr val="dk1"/>
                          </a:solidFill>
                          <a:latin typeface="Arial"/>
                          <a:ea typeface="Arial"/>
                          <a:cs typeface="Arial"/>
                          <a:sym typeface="Arial"/>
                        </a:rPr>
                        <a:t>•</a:t>
                      </a:r>
                      <a:r>
                        <a:rPr b="1" lang="en" sz="650">
                          <a:solidFill>
                            <a:schemeClr val="dk1"/>
                          </a:solidFill>
                          <a:latin typeface="Arial"/>
                          <a:ea typeface="Arial"/>
                          <a:cs typeface="Arial"/>
                          <a:sym typeface="Arial"/>
                        </a:rPr>
                        <a:t>Word choice &amp; tone routine (11.RL.2.B):</a:t>
                      </a:r>
                      <a:r>
                        <a:rPr lang="en" sz="650">
                          <a:solidFill>
                            <a:schemeClr val="dk1"/>
                          </a:solidFill>
                          <a:latin typeface="Arial"/>
                          <a:ea typeface="Arial"/>
                          <a:cs typeface="Arial"/>
                          <a:sym typeface="Arial"/>
                        </a:rPr>
                        <a:t> daily 5-minute annotation of one word or tone choice and the viewpoint it shows; pre-teach key words for MLL.</a:t>
                      </a:r>
                      <a:endParaRPr sz="650">
                        <a:solidFill>
                          <a:schemeClr val="dk1"/>
                        </a:solidFill>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b="1" lang="en" sz="800">
                          <a:solidFill>
                            <a:srgbClr val="214F93"/>
                          </a:solidFill>
                          <a:latin typeface="Arial"/>
                          <a:ea typeface="Arial"/>
                          <a:cs typeface="Arial"/>
                          <a:sym typeface="Arial"/>
                        </a:rPr>
                        <a:t>Monitoring</a:t>
                      </a:r>
                      <a:endParaRPr b="1" sz="800">
                        <a:solidFill>
                          <a:srgbClr val="214F93"/>
                        </a:solidFill>
                        <a:latin typeface="Arial"/>
                        <a:ea typeface="Arial"/>
                        <a:cs typeface="Arial"/>
                        <a:sym typeface="Arial"/>
                      </a:endParaRPr>
                    </a:p>
                    <a:p>
                      <a:pPr indent="0" lvl="0" marL="0" rtl="0" algn="l">
                        <a:lnSpc>
                          <a:spcPct val="115000"/>
                        </a:lnSpc>
                        <a:spcBef>
                          <a:spcPts val="100"/>
                        </a:spcBef>
                        <a:spcAft>
                          <a:spcPts val="0"/>
                        </a:spcAft>
                        <a:buClr>
                          <a:schemeClr val="dk1"/>
                        </a:buClr>
                        <a:buSzPts val="1100"/>
                        <a:buFont typeface="Arial"/>
                        <a:buNone/>
                      </a:pPr>
                      <a:r>
                        <a:rPr lang="en" sz="650">
                          <a:solidFill>
                            <a:schemeClr val="dk1"/>
                          </a:solidFill>
                          <a:latin typeface="Arial"/>
                          <a:ea typeface="Arial"/>
                          <a:cs typeface="Arial"/>
                          <a:sym typeface="Arial"/>
                        </a:rPr>
                        <a:t>•One 5-item CFU per skill every 3 weeks; MP1 benchmark on these three SOLs for all/SWD/MLL.</a:t>
                      </a:r>
                      <a:endParaRPr sz="650">
                        <a:solidFill>
                          <a:schemeClr val="dk1"/>
                        </a:solidFill>
                        <a:latin typeface="Arial"/>
                        <a:ea typeface="Arial"/>
                        <a:cs typeface="Arial"/>
                        <a:sym typeface="Arial"/>
                      </a:endParaRPr>
                    </a:p>
                    <a:p>
                      <a:pPr indent="0" lvl="0" marL="0" rtl="0" algn="l">
                        <a:lnSpc>
                          <a:spcPct val="115000"/>
                        </a:lnSpc>
                        <a:spcBef>
                          <a:spcPts val="100"/>
                        </a:spcBef>
                        <a:spcAft>
                          <a:spcPts val="0"/>
                        </a:spcAft>
                        <a:buClr>
                          <a:schemeClr val="dk1"/>
                        </a:buClr>
                        <a:buSzPts val="1100"/>
                        <a:buFont typeface="Arial"/>
                        <a:buNone/>
                      </a:pPr>
                      <a:r>
                        <a:rPr lang="en" sz="650">
                          <a:solidFill>
                            <a:schemeClr val="dk1"/>
                          </a:solidFill>
                          <a:latin typeface="Arial"/>
                          <a:ea typeface="Arial"/>
                          <a:cs typeface="Arial"/>
                          <a:sym typeface="Arial"/>
                        </a:rPr>
                        <a:t>•Walkthroughs check the three routines; PLC reviews student samples monthly.</a:t>
                      </a:r>
                      <a:endParaRPr sz="650">
                        <a:solidFill>
                          <a:schemeClr val="dk1"/>
                        </a:solidFill>
                        <a:latin typeface="Arial"/>
                        <a:ea typeface="Arial"/>
                        <a:cs typeface="Arial"/>
                        <a:sym typeface="Arial"/>
                      </a:endParaRPr>
                    </a:p>
                    <a:p>
                      <a:pPr indent="0" lvl="0" marL="0" rtl="0" algn="l">
                        <a:lnSpc>
                          <a:spcPct val="115000"/>
                        </a:lnSpc>
                        <a:spcBef>
                          <a:spcPts val="100"/>
                        </a:spcBef>
                        <a:spcAft>
                          <a:spcPts val="0"/>
                        </a:spcAft>
                        <a:buClr>
                          <a:schemeClr val="dk1"/>
                        </a:buClr>
                        <a:buSzPts val="1100"/>
                        <a:buFont typeface="Arial"/>
                        <a:buNone/>
                      </a:pPr>
                      <a:r>
                        <a:t/>
                      </a:r>
                      <a:endParaRPr b="1" sz="800">
                        <a:solidFill>
                          <a:srgbClr val="214F93"/>
                        </a:solidFill>
                        <a:latin typeface="Arial"/>
                        <a:ea typeface="Arial"/>
                        <a:cs typeface="Arial"/>
                        <a:sym typeface="Arial"/>
                      </a:endParaRPr>
                    </a:p>
                    <a:p>
                      <a:pPr indent="0" lvl="0" marL="0" rtl="0" algn="l">
                        <a:spcBef>
                          <a:spcPts val="0"/>
                        </a:spcBef>
                        <a:spcAft>
                          <a:spcPts val="0"/>
                        </a:spcAft>
                        <a:buNone/>
                      </a:pPr>
                      <a:r>
                        <a:t/>
                      </a:r>
                      <a:endParaRPr sz="10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rowSpan="6">
                  <a:txBody>
                    <a:bodyPr/>
                    <a:lstStyle/>
                    <a:p>
                      <a:pPr indent="0" lvl="0" marL="0" rtl="0" algn="l">
                        <a:lnSpc>
                          <a:spcPct val="115000"/>
                        </a:lnSpc>
                        <a:spcBef>
                          <a:spcPts val="1200"/>
                        </a:spcBef>
                        <a:spcAft>
                          <a:spcPts val="0"/>
                        </a:spcAft>
                        <a:buNone/>
                      </a:pPr>
                      <a:r>
                        <a:rPr lang="en" sz="800">
                          <a:solidFill>
                            <a:schemeClr val="dk1"/>
                          </a:solidFill>
                          <a:latin typeface="Arial"/>
                          <a:ea typeface="Arial"/>
                          <a:cs typeface="Arial"/>
                          <a:sym typeface="Arial"/>
                        </a:rPr>
                        <a:t>Overall student achievement data demonstrated positive growth from 2025 to 2026, with performance increasing by 3 percentage points overall. However, during the same period, performance among English Language Learners (ELL/MLL) decreased by 17 percentage points. This decline identifies a significant subgroup performance gap and establishes ELL/MLL achievement as a priority area for continued improvement.</a:t>
                      </a:r>
                      <a:endParaRPr sz="8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lang="en" sz="800">
                          <a:solidFill>
                            <a:schemeClr val="dk1"/>
                          </a:solidFill>
                          <a:latin typeface="Arial"/>
                          <a:ea typeface="Arial"/>
                          <a:cs typeface="Arial"/>
                          <a:sym typeface="Arial"/>
                        </a:rPr>
                        <a:t>To address the identified performance gap, Tier 1 instruction will focus on strengthening students’ access to grade-level content while maintaining appropriate academic rigor. Particular attention will be given to embedding consistent language and instructional scaffolds into daily instruction to support ELL/MLL students in both developing content knowledge and demonstrating their understanding.</a:t>
                      </a:r>
                      <a:endParaRPr sz="8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lang="en" sz="800">
                          <a:solidFill>
                            <a:schemeClr val="dk1"/>
                          </a:solidFill>
                          <a:latin typeface="Arial"/>
                          <a:ea typeface="Arial"/>
                          <a:cs typeface="Arial"/>
                          <a:sym typeface="Arial"/>
                        </a:rPr>
                        <a:t>Tier 1 instructional strategies will include  reinforcing academic and content-specific vocabulary, incorporating visuals and models, utilizing anchor charts and other reference tools, chunking complex texts and multi-step directions, explicitly modeling problems and key processes, and providing structured opportunities for academic discussion and student discourse.</a:t>
                      </a:r>
                      <a:endParaRPr sz="8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lang="en" sz="800">
                          <a:solidFill>
                            <a:schemeClr val="dk1"/>
                          </a:solidFill>
                          <a:latin typeface="Arial"/>
                          <a:ea typeface="Arial"/>
                          <a:cs typeface="Arial"/>
                          <a:sym typeface="Arial"/>
                        </a:rPr>
                        <a:t>Teachers will use frequent checks for understanding and formative assessment data to identify misconceptions and determine when additional modeling, scaffolding, small-group instruction, or reteaching is necessary.</a:t>
                      </a:r>
                      <a:endParaRPr sz="800">
                        <a:solidFill>
                          <a:schemeClr val="dk1"/>
                        </a:solidFill>
                        <a:latin typeface="Arial"/>
                        <a:ea typeface="Arial"/>
                        <a:cs typeface="Arial"/>
                        <a:sym typeface="Arial"/>
                      </a:endParaRPr>
                    </a:p>
                    <a:p>
                      <a:pPr indent="0" lvl="0" marL="0" rtl="0" algn="l">
                        <a:lnSpc>
                          <a:spcPct val="115000"/>
                        </a:lnSpc>
                        <a:spcBef>
                          <a:spcPts val="1400"/>
                        </a:spcBef>
                        <a:spcAft>
                          <a:spcPts val="0"/>
                        </a:spcAft>
                        <a:buNone/>
                      </a:pPr>
                      <a:r>
                        <a:rPr lang="en" sz="800">
                          <a:solidFill>
                            <a:schemeClr val="dk1"/>
                          </a:solidFill>
                          <a:latin typeface="Arial"/>
                          <a:ea typeface="Arial"/>
                          <a:cs typeface="Arial"/>
                          <a:sym typeface="Arial"/>
                        </a:rPr>
                        <a:t>The goal is to maintain or improve upon the 3-percentage-point overall growth while reversing the 17-percentage-point decline among ELL/MLL students. Tier 1 instruction will intentionally integrate language development with content instruction so that ELL/MLL students have increased opportunities to access grade-level standards and independently demonstrate mastery.</a:t>
                      </a:r>
                      <a:endParaRPr sz="8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lang="en" sz="800">
                          <a:solidFill>
                            <a:schemeClr val="dk1"/>
                          </a:solidFill>
                          <a:latin typeface="Arial"/>
                          <a:ea typeface="Arial"/>
                          <a:cs typeface="Arial"/>
                          <a:sym typeface="Arial"/>
                        </a:rPr>
                        <a:t>Progress will be monitored through formative assessments, constructed responses, unit assessments, and benchmark data, with results regularly disaggregated by ELL/MLL status. Data will be reviewed at established checkpoints to identify trends, evaluate the effectiveness of Tier 1 instructional strategies, and make timely adjustments to instruction based on student needs.</a:t>
                      </a:r>
                      <a:endParaRPr sz="8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lang="en" sz="800">
                          <a:solidFill>
                            <a:schemeClr val="dk1"/>
                          </a:solidFill>
                          <a:latin typeface="Arial"/>
                          <a:ea typeface="Arial"/>
                          <a:cs typeface="Arial"/>
                          <a:sym typeface="Arial"/>
                        </a:rPr>
                        <a:t>Evidence of success will include increased ELL/MLL performance across assessment checkpoints, a reduction in the achievement gap between ELL/MLL students and the overall student population, and continued growth in overall student achievement.</a:t>
                      </a:r>
                      <a:endParaRPr sz="800">
                        <a:solidFill>
                          <a:schemeClr val="dk1"/>
                        </a:solidFill>
                        <a:latin typeface="Arial"/>
                        <a:ea typeface="Arial"/>
                        <a:cs typeface="Arial"/>
                        <a:sym typeface="Arial"/>
                      </a:endParaRPr>
                    </a:p>
                    <a:p>
                      <a:pPr indent="0" lvl="0" marL="0" rtl="0" algn="l">
                        <a:lnSpc>
                          <a:spcPct val="115000"/>
                        </a:lnSpc>
                        <a:spcBef>
                          <a:spcPts val="1200"/>
                        </a:spcBef>
                        <a:spcAft>
                          <a:spcPts val="1200"/>
                        </a:spcAft>
                        <a:buNone/>
                      </a:pPr>
                      <a:r>
                        <a:t/>
                      </a:r>
                      <a:endParaRPr sz="800">
                        <a:solidFill>
                          <a:schemeClr val="dk1"/>
                        </a:solidFill>
                        <a:latin typeface="Arial"/>
                        <a:ea typeface="Arial"/>
                        <a:cs typeface="Arial"/>
                        <a:sym typeface="Aria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rowSpan="6">
                  <a:txBody>
                    <a:bodyPr/>
                    <a:lstStyle/>
                    <a:p>
                      <a:pPr indent="0" lvl="0" marL="0" rtl="0" algn="l">
                        <a:lnSpc>
                          <a:spcPct val="115000"/>
                        </a:lnSpc>
                        <a:spcBef>
                          <a:spcPts val="1200"/>
                        </a:spcBef>
                        <a:spcAft>
                          <a:spcPts val="0"/>
                        </a:spcAft>
                        <a:buClr>
                          <a:schemeClr val="dk1"/>
                        </a:buClr>
                        <a:buSzPts val="1100"/>
                        <a:buFont typeface="Arial"/>
                        <a:buNone/>
                      </a:pPr>
                      <a:r>
                        <a:rPr lang="en" sz="800">
                          <a:solidFill>
                            <a:schemeClr val="dk1"/>
                          </a:solidFill>
                          <a:latin typeface="Arial"/>
                          <a:ea typeface="Arial"/>
                          <a:cs typeface="Arial"/>
                          <a:sym typeface="Arial"/>
                        </a:rPr>
                        <a:t>Significant Gaps</a:t>
                      </a:r>
                      <a:endParaRPr sz="8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latin typeface="Arial"/>
                          <a:ea typeface="Arial"/>
                          <a:cs typeface="Arial"/>
                          <a:sym typeface="Arial"/>
                        </a:rPr>
                        <a:t>Prior-year analysis showed students performing well on recall tasks (75–82%) but substantially lower on reasoning tasks (50–56%). The gap is in applying content through analysis, interpretation, prediction, and justification, not in content knowledge. End-of-year SOL results support continuing last year's instructional adjustments.</a:t>
                      </a:r>
                      <a:endParaRPr sz="8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latin typeface="Arial"/>
                          <a:ea typeface="Arial"/>
                          <a:cs typeface="Arial"/>
                          <a:sym typeface="Arial"/>
                        </a:rPr>
                        <a:t>Changes &amp; Adjustments to Tier 1</a:t>
                      </a:r>
                      <a:endParaRPr sz="8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latin typeface="Arial"/>
                          <a:ea typeface="Arial"/>
                          <a:cs typeface="Arial"/>
                          <a:sym typeface="Arial"/>
                        </a:rPr>
                        <a:t>Teachers explicitly teach task verbs and raise cognitive demand through graphing and data analysis, CERs, mind mapping, and multistep questions and problem sets. Think-alouds and structured supports model reasoning while maintaining rigor. Instruction anticipates prerequisite gaps and misconceptions and addresses them </a:t>
                      </a:r>
                      <a:r>
                        <a:rPr lang="en" sz="800">
                          <a:solidFill>
                            <a:schemeClr val="dk1"/>
                          </a:solidFill>
                          <a:latin typeface="Arial"/>
                          <a:ea typeface="Arial"/>
                          <a:cs typeface="Arial"/>
                          <a:sym typeface="Arial"/>
                        </a:rPr>
                        <a:t>preemptively</a:t>
                      </a:r>
                      <a:r>
                        <a:rPr lang="en" sz="800">
                          <a:solidFill>
                            <a:schemeClr val="dk1"/>
                          </a:solidFill>
                          <a:latin typeface="Arial"/>
                          <a:ea typeface="Arial"/>
                          <a:cs typeface="Arial"/>
                          <a:sym typeface="Arial"/>
                        </a:rPr>
                        <a:t>.</a:t>
                      </a:r>
                      <a:endParaRPr sz="8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latin typeface="Arial"/>
                          <a:ea typeface="Arial"/>
                          <a:cs typeface="Arial"/>
                          <a:sym typeface="Arial"/>
                        </a:rPr>
                        <a:t>Adjustments this year: continue targeting most-missed strands, reflect on student responses and redesign instruction, and adjust scaffolds while holding cognitive demand. A consistent routine of unpack the verb, identify evidence, justify the answer builds student independence.</a:t>
                      </a:r>
                      <a:endParaRPr sz="8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latin typeface="Arial"/>
                          <a:ea typeface="Arial"/>
                          <a:cs typeface="Arial"/>
                          <a:sym typeface="Arial"/>
                        </a:rPr>
                        <a:t>Monitoring &amp; Evidence</a:t>
                      </a:r>
                      <a:endParaRPr sz="8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latin typeface="Arial"/>
                          <a:ea typeface="Arial"/>
                          <a:cs typeface="Arial"/>
                          <a:sym typeface="Arial"/>
                        </a:rPr>
                        <a:t>PLC review of unit packets, shared instructional tasks, student work, and common formative assessments documents consistent implementation and drives collaborative revision.</a:t>
                      </a:r>
                      <a:endParaRPr sz="8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latin typeface="Arial"/>
                          <a:ea typeface="Arial"/>
                          <a:cs typeface="Arial"/>
                          <a:sym typeface="Arial"/>
                        </a:rPr>
                        <a:t>Evidence to date is implementation evidence: unit packets, anchor charts, and shared reasoning tasks. Outcome data begins at the first common assessment, with strand-level SOL analysis to follow once results are released.</a:t>
                      </a:r>
                      <a:endParaRPr sz="800">
                        <a:solidFill>
                          <a:schemeClr val="dk1"/>
                        </a:solidFill>
                        <a:latin typeface="Arial"/>
                        <a:ea typeface="Arial"/>
                        <a:cs typeface="Arial"/>
                        <a:sym typeface="Arial"/>
                      </a:endParaRPr>
                    </a:p>
                    <a:p>
                      <a:pPr indent="0" lvl="0" marL="0" rtl="0" algn="l">
                        <a:spcBef>
                          <a:spcPts val="1200"/>
                        </a:spcBef>
                        <a:spcAft>
                          <a:spcPts val="0"/>
                        </a:spcAft>
                        <a:buNone/>
                      </a:pPr>
                      <a:r>
                        <a:t/>
                      </a:r>
                      <a:endParaRPr sz="800">
                        <a:solidFill>
                          <a:schemeClr val="dk1"/>
                        </a:solidFill>
                        <a:latin typeface="Arial"/>
                        <a:ea typeface="Arial"/>
                        <a:cs typeface="Arial"/>
                        <a:sym typeface="Aria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rowSpan="6">
                  <a:txBody>
                    <a:bodyPr/>
                    <a:lstStyle/>
                    <a:p>
                      <a:pPr indent="0" lvl="0" marL="0" rtl="0" algn="l">
                        <a:spcBef>
                          <a:spcPts val="0"/>
                        </a:spcBef>
                        <a:spcAft>
                          <a:spcPts val="0"/>
                        </a:spcAft>
                        <a:buNone/>
                      </a:pPr>
                      <a:r>
                        <a:rPr lang="en" sz="900"/>
                        <a:t>Overall data showed significant improvement and notable gains from 2025 to 2026. While overall performance increased, a small performance gap emerged among MLL students, highlighting an area for continued focus and targeted support.</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Social Studies will incorporate the strategies used in Marking Period 3 and 4 of last year. All students are being provided scaffolded organizers and essay composition strategies to prepare for PBA’s. Students are working with geographic and primary sources each lesson to develop key skills and practice, as well as frequent checks for understanding to help prepare for Unit and Benchmark assessments.</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Unit 1 Test Data (Pass Rate)</a:t>
                      </a:r>
                      <a:endParaRPr sz="900"/>
                    </a:p>
                    <a:p>
                      <a:pPr indent="0" lvl="0" marL="0" rtl="0" algn="l">
                        <a:spcBef>
                          <a:spcPts val="0"/>
                        </a:spcBef>
                        <a:spcAft>
                          <a:spcPts val="0"/>
                        </a:spcAft>
                        <a:buNone/>
                      </a:pPr>
                      <a:r>
                        <a:rPr lang="en" sz="900"/>
                        <a:t>WHI improved from 80% to 83%</a:t>
                      </a:r>
                      <a:endParaRPr sz="900"/>
                    </a:p>
                    <a:p>
                      <a:pPr indent="0" lvl="0" marL="0" rtl="0" algn="l">
                        <a:spcBef>
                          <a:spcPts val="0"/>
                        </a:spcBef>
                        <a:spcAft>
                          <a:spcPts val="0"/>
                        </a:spcAft>
                        <a:buNone/>
                      </a:pPr>
                      <a:r>
                        <a:rPr lang="en" sz="1000"/>
                        <a:t>US improved from 66% to 79%</a:t>
                      </a:r>
                      <a:endParaRPr sz="10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59750">
                <a:tc vMerge="1"/>
                <a:tc vMerge="1"/>
                <a:tc vMerge="1"/>
                <a:tc vMerge="1"/>
              </a:tr>
              <a:tr h="559750">
                <a:tc vMerge="1"/>
                <a:tc vMerge="1"/>
                <a:tc vMerge="1"/>
                <a:tc vMerge="1"/>
              </a:tr>
              <a:tr h="559750">
                <a:tc vMerge="1"/>
                <a:tc vMerge="1"/>
                <a:tc vMerge="1"/>
                <a:tc vMerge="1"/>
              </a:tr>
              <a:tr h="559750">
                <a:tc vMerge="1"/>
                <a:tc vMerge="1"/>
                <a:tc vMerge="1"/>
                <a:tc vMerge="1"/>
              </a:tr>
              <a:tr h="559750">
                <a:tc vMerge="1"/>
                <a:tc vMerge="1"/>
                <a:tc vMerge="1"/>
                <a:tc vMerge="1"/>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